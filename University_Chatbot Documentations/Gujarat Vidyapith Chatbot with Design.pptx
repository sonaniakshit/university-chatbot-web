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5" r:id="rId19"/>
    <p:sldId id="286" r:id="rId20"/>
    <p:sldId id="287" r:id="rId21"/>
    <p:sldId id="288" r:id="rId22"/>
    <p:sldId id="276" r:id="rId23"/>
    <p:sldId id="289" r:id="rId24"/>
    <p:sldId id="290" r:id="rId25"/>
    <p:sldId id="291" r:id="rId26"/>
    <p:sldId id="292" r:id="rId27"/>
    <p:sldId id="293" r:id="rId28"/>
    <p:sldId id="294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B73B5-C2DD-E2ED-6879-FDEAE26217EB}" v="186" dt="2025-11-22T01:47:50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E21B-4E8C-ABB5-452E-AB0CEBA74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4C133-F91B-FD3B-47D2-F65C8ACB7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86702-0B0B-4418-EF49-C23CC9F4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F29AE-7200-1152-1B3B-19699815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EFA0A-9B86-4707-82D6-8704E2DC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8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E339-A8C1-C610-0A2A-6C640293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02259-5E69-2597-3C08-88FAD1BF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EA8F-9214-7F9F-59AA-C480AAFC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2A7BB-E689-4231-53A5-C4E6CA98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B575D-186F-7AA7-FE79-207A7551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96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31A28-8FCC-2FBE-F280-2EB53695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A9EDF-0988-2145-510E-A88DEDDDB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B055D-2ECB-F49F-00A4-F61DE27E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506D-C66B-9D64-3E8E-18EC1511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ABB47-E301-5E31-857F-90D31DE4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49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4810-97AC-3CC9-F95C-FFF7B8D2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E4D4A-0050-26D0-C4B7-E16570144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DA815-C8F4-5DA1-36C6-1786F686B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8A5F9-CA7A-39B3-2059-ACDE029E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5AE51-0326-FC1F-B5A5-BBF56076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90C12-E94D-DFCC-4E3D-F46006E2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51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AA3-01C2-BAF3-3FB0-90515672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6C65E-DCED-F8C0-D814-F4937E33D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FA3CE-C605-17D6-5893-57F70773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FFDA5-B203-C1E1-97FA-4F6F488AD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D44127-037E-296A-2B23-DA8A03812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C61BE-852B-CC1D-C076-E234A538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43545-5697-0EEA-171C-3E2E9818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5B53A2-0867-EB1A-1354-4839B92B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9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4ACA-BA6C-F374-FDEA-C3A4672E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CE5A0A-1F34-2E9D-6FD1-FFCCA5C9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70E53-535E-7639-206D-25BA5AB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13035-2AC9-70E9-F13C-372C2F76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91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88452-B3BF-EF0B-B018-9FC58D24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9F6E0-037E-F352-EE48-999BA049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4A0D-9318-FC68-E1CF-3170C7CB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49AE-EDA6-4192-E2EA-B577EE87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C06C1-E3D4-E707-BBF3-068EE84D9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2D326-AAD1-985D-60B9-BFC0F9296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6170E-E847-0273-D545-57253F6B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27EFC-584E-C209-D3F5-042018C3E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2C17F-3A92-8552-13D6-F8861D24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16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FB25-8559-C4AE-4B02-9C034419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1B8AA-5081-1582-9E44-20232E349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E7C36-9674-49CE-0CCE-2D7F29DF8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BE041-A4AD-62FC-2872-F325C934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38DB0-0D7C-B89C-AA2F-891DA015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3B0D0-FDAC-4FD2-FBA5-3D9877E7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15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EF3A-47D5-3922-2B38-605EF0A50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449E5-170E-6120-2473-34AB21425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F71DA-E305-2C5D-1CF1-4B371648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1CF0A-B6CE-2AF2-351D-C5759421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D104-A725-C5C3-0340-BD5DFB33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94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ABC72-8CED-830E-FD8C-135E49068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6B198-F27B-331A-3765-49C0C80F4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EB5CF-3C1F-3A2A-B367-684E5343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36B2E-C4CF-A514-AD36-7D15BF71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ECAFD-2026-A4DE-AD76-FF67171C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65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2C2FD-A73C-9BD2-E970-4EC9E367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83D95-9876-0971-85B4-909B89A29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DFEB0-94BF-3ED5-7B88-D40701D42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DA0F9-CC6D-40B8-8990-3021599C191F}" type="datetimeFigureOut">
              <a:rPr lang="en-US" smtClean="0"/>
              <a:t>22-Nov-25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CB42F-3238-9CF1-37F2-813F53392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65F05-38E1-A620-6544-1015067E2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E02DC-F2D6-4F23-982A-A6551D971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AB7D4-BD3F-5603-A599-3C553616B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Gujarat Vidyapith Chatbot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90025-0D8C-D875-253F-14A9368C7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Falguni </a:t>
            </a:r>
            <a:r>
              <a:rPr lang="en-US" dirty="0" err="1"/>
              <a:t>Maththar</a:t>
            </a:r>
            <a:r>
              <a:rPr lang="en-US" dirty="0"/>
              <a:t> – 240160510026</a:t>
            </a:r>
            <a:endParaRPr lang="en-US"/>
          </a:p>
          <a:p>
            <a:pPr algn="l"/>
            <a:r>
              <a:rPr lang="en-US" dirty="0"/>
              <a:t>Akshit </a:t>
            </a:r>
            <a:r>
              <a:rPr lang="en-US" dirty="0" err="1"/>
              <a:t>Sonani</a:t>
            </a:r>
            <a:r>
              <a:rPr lang="en-US" dirty="0"/>
              <a:t> - 240160510049</a:t>
            </a:r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14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4B090-8191-C201-FE97-2488B1C8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C3BF-9C6B-783D-BB38-DCA96D610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Introduction</a:t>
            </a:r>
          </a:p>
          <a:p>
            <a:r>
              <a:rPr lang="en-US" sz="2400"/>
              <a:t>Key Features of Chatbot</a:t>
            </a:r>
          </a:p>
          <a:p>
            <a:r>
              <a:rPr lang="en-US" sz="2400"/>
              <a:t>Technology Stack</a:t>
            </a:r>
          </a:p>
          <a:p>
            <a:r>
              <a:rPr lang="en-US" sz="2400"/>
              <a:t>Project Architecture</a:t>
            </a:r>
          </a:p>
          <a:p>
            <a:r>
              <a:rPr lang="en-US" sz="2400"/>
              <a:t>Database Schema</a:t>
            </a:r>
          </a:p>
          <a:p>
            <a:r>
              <a:rPr lang="en-US" sz="2400"/>
              <a:t>Ui Design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279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99E58-CD37-BDE6-5CFC-E3ED896D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Introduction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EC9BA-C8B8-58EB-5194-B32ABCE8E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1700" b="1"/>
              <a:t>Why Chatbot?</a:t>
            </a:r>
          </a:p>
          <a:p>
            <a:pPr marL="0" indent="0">
              <a:buNone/>
            </a:pPr>
            <a:r>
              <a:rPr lang="en-US" sz="1700"/>
              <a:t>This project aims to create an efficient and user-friendly chatbot system for Gujarat Vidyapith.</a:t>
            </a:r>
          </a:p>
          <a:p>
            <a:pPr marL="0" indent="0">
              <a:buNone/>
            </a:pPr>
            <a:r>
              <a:rPr lang="en-US" sz="1700"/>
              <a:t>The system helps students, staff and visitors get quick answers to common queries related to the university.</a:t>
            </a:r>
          </a:p>
          <a:p>
            <a:pPr marL="0" indent="0">
              <a:buNone/>
            </a:pPr>
            <a:r>
              <a:rPr lang="en-US" sz="1700"/>
              <a:t>It reduces manual workload and improves information accessibility.</a:t>
            </a:r>
          </a:p>
          <a:p>
            <a:pPr marL="0" indent="0">
              <a:buNone/>
            </a:pPr>
            <a:r>
              <a:rPr lang="en-US" sz="1700"/>
              <a:t>The chatbot uses predefined intents, processes user questions and returns accurate responses.</a:t>
            </a:r>
          </a:p>
          <a:p>
            <a:pPr marL="0" indent="0">
              <a:buNone/>
            </a:pPr>
            <a:r>
              <a:rPr lang="en-US" sz="1700"/>
              <a:t>The goal is to provide a simple, fast and reliable digital helpdesk.</a:t>
            </a:r>
          </a:p>
          <a:p>
            <a:r>
              <a:rPr lang="en-US" sz="1700" b="1"/>
              <a:t>What Problem Does It Solve?</a:t>
            </a:r>
          </a:p>
          <a:p>
            <a:pPr marL="0" indent="0">
              <a:buNone/>
            </a:pPr>
            <a:r>
              <a:rPr lang="en-US" sz="1700"/>
              <a:t>Slow information delivery</a:t>
            </a:r>
          </a:p>
          <a:p>
            <a:pPr marL="0" indent="0">
              <a:buNone/>
            </a:pPr>
            <a:r>
              <a:rPr lang="en-US" sz="1700"/>
              <a:t>Repeated manual queries to staff</a:t>
            </a:r>
          </a:p>
          <a:p>
            <a:pPr marL="0" indent="0">
              <a:buNone/>
            </a:pPr>
            <a:r>
              <a:rPr lang="en-US" sz="1700"/>
              <a:t>Difficulty finding accurate and updated details</a:t>
            </a:r>
          </a:p>
          <a:p>
            <a:pPr marL="0" indent="0">
              <a:buNone/>
            </a:pPr>
            <a:r>
              <a:rPr lang="en-US" sz="1700"/>
              <a:t>Confusion during admissions and department-level inquiries</a:t>
            </a:r>
          </a:p>
          <a:p>
            <a:pPr marL="0" indent="0">
              <a:buNone/>
            </a:pPr>
            <a:r>
              <a:rPr lang="en-US" sz="1700"/>
              <a:t>Lack of a single point of information for the university</a:t>
            </a:r>
          </a:p>
        </p:txBody>
      </p:sp>
    </p:spTree>
    <p:extLst>
      <p:ext uri="{BB962C8B-B14F-4D97-AF65-F5344CB8AC3E}">
        <p14:creationId xmlns:p14="http://schemas.microsoft.com/office/powerpoint/2010/main" val="307946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5481D-4D46-E6D3-D7E7-964881F2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Key Features of Gujarat Vidyapith Chatbot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4D7B9-864C-B14A-FE23-E8B147F24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sz="1500"/>
              <a:t>Provides instant answers to university-related queries</a:t>
            </a:r>
          </a:p>
          <a:p>
            <a:r>
              <a:rPr lang="en-US" sz="1500"/>
              <a:t>Covers departments, courses, admissions and general campus information</a:t>
            </a:r>
          </a:p>
          <a:p>
            <a:r>
              <a:rPr lang="en-US" sz="1500"/>
              <a:t>Works on intent-based training to maintain accuracy</a:t>
            </a:r>
          </a:p>
          <a:p>
            <a:r>
              <a:rPr lang="en-US" sz="1500"/>
              <a:t>Simple and clean chat interface for students and visitors</a:t>
            </a:r>
          </a:p>
          <a:p>
            <a:r>
              <a:rPr lang="en-US" sz="1500"/>
              <a:t>Centralized admin panel to add, update or remove intents</a:t>
            </a:r>
          </a:p>
          <a:p>
            <a:r>
              <a:rPr lang="en-US" sz="1500"/>
              <a:t>Responds 24/7 without depending on staff availability</a:t>
            </a:r>
          </a:p>
          <a:p>
            <a:r>
              <a:rPr lang="en-US" sz="1500"/>
              <a:t>Reduces repetitive workload for faculty and office staff</a:t>
            </a:r>
          </a:p>
          <a:p>
            <a:r>
              <a:rPr lang="en-US" sz="1500"/>
              <a:t>Supports structured responses for important topics like fees, programs and eligibility</a:t>
            </a:r>
          </a:p>
          <a:p>
            <a:r>
              <a:rPr lang="en-US" sz="1500"/>
              <a:t>Can be expanded with automatic model training in future</a:t>
            </a:r>
          </a:p>
          <a:p>
            <a:r>
              <a:rPr lang="en-US" sz="1500"/>
              <a:t>Lightweight design that works on the web without heavy setup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52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8C481-C13F-547F-6564-F832673BF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3417"/>
            <a:ext cx="10504227" cy="54317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User Module – Features</a:t>
            </a:r>
          </a:p>
          <a:p>
            <a:r>
              <a:rPr lang="en-US" sz="2000" b="1" dirty="0"/>
              <a:t>User Registration</a:t>
            </a:r>
          </a:p>
          <a:p>
            <a:pPr marL="0" indent="0">
              <a:buNone/>
            </a:pPr>
            <a:r>
              <a:rPr lang="en-US" sz="2000" dirty="0"/>
              <a:t>New users can create an account using basic details like name, email and password.</a:t>
            </a:r>
          </a:p>
          <a:p>
            <a:r>
              <a:rPr lang="en-US" sz="2000" b="1" dirty="0"/>
              <a:t>Secure Login</a:t>
            </a:r>
          </a:p>
          <a:p>
            <a:pPr marL="0" indent="0">
              <a:buNone/>
            </a:pPr>
            <a:r>
              <a:rPr lang="en-US" sz="2000" dirty="0"/>
              <a:t>Only registered users can log in with valid credentials to access the chatbot.</a:t>
            </a:r>
          </a:p>
          <a:p>
            <a:r>
              <a:rPr lang="en-US" sz="2000" b="1" dirty="0"/>
              <a:t>Profile Handling</a:t>
            </a:r>
          </a:p>
          <a:p>
            <a:pPr marL="0" indent="0">
              <a:buNone/>
            </a:pPr>
            <a:r>
              <a:rPr lang="en-US" sz="2000" dirty="0"/>
              <a:t>Users can view and update their profile details (name, contact info, etc.) to keep data accurate.</a:t>
            </a:r>
          </a:p>
          <a:p>
            <a:r>
              <a:rPr lang="en-US" sz="2000" b="1" dirty="0"/>
              <a:t>Chat with Chatbot</a:t>
            </a:r>
          </a:p>
          <a:p>
            <a:pPr marL="0" indent="0">
              <a:buNone/>
            </a:pPr>
            <a:r>
              <a:rPr lang="en-US" sz="2000" dirty="0"/>
              <a:t>Logged-in users can ask queries related to Gujarat Vidyapith and get instant responses.</a:t>
            </a:r>
          </a:p>
          <a:p>
            <a:r>
              <a:rPr lang="en-US" sz="2000" b="1" dirty="0"/>
              <a:t>Chat History</a:t>
            </a:r>
          </a:p>
          <a:p>
            <a:pPr marL="0" indent="0">
              <a:buNone/>
            </a:pPr>
            <a:r>
              <a:rPr lang="en-US" sz="2000" dirty="0"/>
              <a:t>Each user's previous conversations are stored so they can review past answers anytime.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52906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2C1C2-B033-315B-172D-407FA992D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739"/>
            <a:ext cx="10515600" cy="4920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Admin Module – Features</a:t>
            </a:r>
            <a:endParaRPr lang="en-US" sz="2400"/>
          </a:p>
          <a:p>
            <a:pPr>
              <a:buFont typeface="Arial,Sans-Serif" panose="020B0604020202020204" pitchFamily="34" charset="0"/>
            </a:pPr>
            <a:r>
              <a:rPr lang="en-US" sz="1900" b="1" dirty="0"/>
              <a:t>Admin Dashboard</a:t>
            </a:r>
            <a:br>
              <a:rPr lang="en-US" sz="1900" b="1" dirty="0"/>
            </a:br>
            <a:r>
              <a:rPr lang="en-US" sz="1900" b="1" dirty="0"/>
              <a:t>Central panel showing overview of total </a:t>
            </a:r>
            <a:r>
              <a:rPr lang="en-US" sz="1900" dirty="0"/>
              <a:t>users, active users, total chats and recent activity.</a:t>
            </a:r>
          </a:p>
          <a:p>
            <a:pPr>
              <a:buFont typeface="Arial,Sans-Serif" panose="020B0604020202020204" pitchFamily="34" charset="0"/>
            </a:pPr>
            <a:r>
              <a:rPr lang="en-US" sz="1900" b="1" dirty="0"/>
              <a:t>User Status Monitoring</a:t>
            </a:r>
            <a:br>
              <a:rPr lang="en-US" sz="1900" b="1" dirty="0"/>
            </a:br>
            <a:r>
              <a:rPr lang="en-US" sz="1900" b="1" dirty="0"/>
              <a:t>Admin can see which users are active, </a:t>
            </a:r>
            <a:r>
              <a:rPr lang="en-US" sz="1900" dirty="0"/>
              <a:t>inactive or newly registered.</a:t>
            </a:r>
          </a:p>
          <a:p>
            <a:pPr>
              <a:buFont typeface="Arial,Sans-Serif" panose="020B0604020202020204" pitchFamily="34" charset="0"/>
            </a:pPr>
            <a:r>
              <a:rPr lang="en-US" sz="1900" b="1" dirty="0"/>
              <a:t>View User Chat History</a:t>
            </a:r>
            <a:br>
              <a:rPr lang="en-US" sz="1900" b="1" dirty="0"/>
            </a:br>
            <a:r>
              <a:rPr lang="en-US" sz="1900" b="1" dirty="0"/>
              <a:t>Admin can access user chat logs to:</a:t>
            </a:r>
            <a:endParaRPr lang="en-US" sz="1900" dirty="0"/>
          </a:p>
          <a:p>
            <a:pPr marL="742950" lvl="1" indent="-285750">
              <a:buFont typeface="Arial,Sans-Serif" panose="020B0604020202020204" pitchFamily="34" charset="0"/>
            </a:pPr>
            <a:r>
              <a:rPr lang="en-US" sz="1900" dirty="0"/>
              <a:t>Analyze common queries</a:t>
            </a:r>
          </a:p>
          <a:p>
            <a:pPr marL="742950" lvl="1" indent="-285750">
              <a:buFont typeface="Arial,Sans-Serif" panose="020B0604020202020204" pitchFamily="34" charset="0"/>
            </a:pPr>
            <a:r>
              <a:rPr lang="en-US" sz="1900" dirty="0"/>
              <a:t>Improve intents and responses</a:t>
            </a:r>
          </a:p>
          <a:p>
            <a:pPr marL="742950" lvl="1" indent="-285750">
              <a:buFont typeface="Arial,Sans-Serif" panose="020B0604020202020204" pitchFamily="34" charset="0"/>
            </a:pPr>
            <a:r>
              <a:rPr lang="en-US" sz="1900" dirty="0"/>
              <a:t>Monitor misuse or inappropriate queries</a:t>
            </a:r>
          </a:p>
          <a:p>
            <a:pPr>
              <a:buFont typeface="Arial,Sans-Serif" panose="020B0604020202020204" pitchFamily="34" charset="0"/>
            </a:pPr>
            <a:r>
              <a:rPr lang="en-US" sz="1900" b="1" dirty="0"/>
              <a:t>System Control</a:t>
            </a:r>
            <a:br>
              <a:rPr lang="en-US" sz="1900" b="1" dirty="0"/>
            </a:br>
            <a:r>
              <a:rPr lang="en-US" sz="1900" b="1" dirty="0"/>
              <a:t>Admin can manage intents, update </a:t>
            </a:r>
            <a:r>
              <a:rPr lang="en-US" sz="1900" dirty="0"/>
              <a:t>responses and maintain the overall quality of the chatbot.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9237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1E954-DF44-5210-248C-CAF46E42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Technology Stack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4EAA0-F1FC-F913-6F18-E81315BF5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 b="1"/>
              <a:t>Frontend</a:t>
            </a:r>
          </a:p>
          <a:p>
            <a:pPr marL="0"/>
            <a:r>
              <a:rPr lang="en-US" sz="1400"/>
              <a:t>HTML</a:t>
            </a:r>
          </a:p>
          <a:p>
            <a:pPr marL="0"/>
            <a:r>
              <a:rPr lang="en-US" sz="1400"/>
              <a:t>CSS</a:t>
            </a:r>
          </a:p>
          <a:p>
            <a:pPr marL="0"/>
            <a:r>
              <a:rPr lang="en-US" sz="1400"/>
              <a:t>JavaScript</a:t>
            </a:r>
          </a:p>
          <a:p>
            <a:pPr marL="0"/>
            <a:r>
              <a:rPr lang="en-US" sz="1400"/>
              <a:t>Bootstrap (for responsive UI)</a:t>
            </a:r>
          </a:p>
          <a:p>
            <a:r>
              <a:rPr lang="en-US" sz="1400" b="1"/>
              <a:t>Backend</a:t>
            </a:r>
          </a:p>
          <a:p>
            <a:pPr marL="0"/>
            <a:r>
              <a:rPr lang="en-US" sz="1400"/>
              <a:t>Python</a:t>
            </a:r>
          </a:p>
          <a:p>
            <a:pPr marL="0"/>
            <a:r>
              <a:rPr lang="en-US" sz="1400"/>
              <a:t>Django Framework</a:t>
            </a:r>
          </a:p>
          <a:p>
            <a:pPr marL="0"/>
            <a:r>
              <a:rPr lang="en-US" sz="1400"/>
              <a:t>Chatbot core logic using NLTK / trained intent model</a:t>
            </a:r>
          </a:p>
          <a:p>
            <a:r>
              <a:rPr lang="en-US" sz="1400" b="1"/>
              <a:t>Database</a:t>
            </a:r>
          </a:p>
          <a:p>
            <a:pPr marL="0"/>
            <a:r>
              <a:rPr lang="en-US" sz="1400"/>
              <a:t>SQLite (or the one you used)</a:t>
            </a:r>
          </a:p>
          <a:p>
            <a:pPr marL="0"/>
            <a:r>
              <a:rPr lang="en-US" sz="1400"/>
              <a:t>Stores users, chat history, intents and admin data</a:t>
            </a:r>
          </a:p>
          <a:p>
            <a:endParaRPr lang="en-US" sz="14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D63E35-ACEF-D0DA-189C-DD9C7B6048BA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Machine Learning / NLP</a:t>
            </a:r>
          </a:p>
          <a:p>
            <a:pPr marL="0" indent="0">
              <a:buNone/>
            </a:pPr>
            <a:r>
              <a:rPr lang="en-US" sz="1400" dirty="0"/>
              <a:t>NLTK for text preprocessing</a:t>
            </a:r>
          </a:p>
          <a:p>
            <a:pPr marL="0" indent="0">
              <a:buNone/>
            </a:pPr>
            <a:r>
              <a:rPr lang="en-US" sz="1400" dirty="0"/>
              <a:t>Bag-of-Words model</a:t>
            </a:r>
          </a:p>
          <a:p>
            <a:pPr marL="0" indent="0">
              <a:buNone/>
            </a:pPr>
            <a:r>
              <a:rPr lang="en-US" sz="1400" dirty="0"/>
              <a:t>Custom trained model using </a:t>
            </a:r>
            <a:r>
              <a:rPr lang="en-US" sz="1400" err="1"/>
              <a:t>json</a:t>
            </a:r>
            <a:r>
              <a:rPr lang="en-US" sz="1400" dirty="0"/>
              <a:t> dataset</a:t>
            </a:r>
          </a:p>
          <a:p>
            <a:r>
              <a:rPr lang="en-US" sz="1400" b="1" dirty="0"/>
              <a:t>Tools &amp; Libraries</a:t>
            </a:r>
          </a:p>
          <a:p>
            <a:pPr marL="0" indent="0">
              <a:buNone/>
            </a:pPr>
            <a:r>
              <a:rPr lang="en-US" sz="1400" dirty="0"/>
              <a:t>Django Admin Panel</a:t>
            </a:r>
          </a:p>
          <a:p>
            <a:pPr marL="0" indent="0">
              <a:buNone/>
            </a:pPr>
            <a:r>
              <a:rPr lang="en-US" sz="1400"/>
              <a:t>NumPy</a:t>
            </a:r>
            <a:endParaRPr lang="en-US" sz="1400" dirty="0"/>
          </a:p>
          <a:p>
            <a:pPr marL="0" indent="0">
              <a:buNone/>
            </a:pPr>
            <a:r>
              <a:rPr lang="en-US" sz="1400"/>
              <a:t>Pickle for model storage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JSON for intents dataset</a:t>
            </a:r>
          </a:p>
          <a:p>
            <a:pPr marL="0" indent="0">
              <a:buNone/>
            </a:pPr>
            <a:r>
              <a:rPr lang="en-US" sz="1400" dirty="0"/>
              <a:t>GitHub for version control</a:t>
            </a:r>
          </a:p>
          <a:p>
            <a:r>
              <a:rPr lang="en-US" sz="1400" b="1" dirty="0"/>
              <a:t>Environment</a:t>
            </a:r>
          </a:p>
          <a:p>
            <a:pPr marL="0" indent="0">
              <a:buNone/>
            </a:pPr>
            <a:r>
              <a:rPr lang="en-US" sz="1400" dirty="0"/>
              <a:t>VS Code</a:t>
            </a:r>
          </a:p>
          <a:p>
            <a:pPr marL="0" indent="0">
              <a:buNone/>
            </a:pPr>
            <a:r>
              <a:rPr lang="en-US" sz="1400" dirty="0"/>
              <a:t>Python Virtual Environment</a:t>
            </a:r>
          </a:p>
          <a:p>
            <a:pPr marL="0" indent="0">
              <a:buNone/>
            </a:pPr>
            <a:r>
              <a:rPr lang="en-US" sz="1400" dirty="0"/>
              <a:t>Browser for deployment testing</a:t>
            </a:r>
          </a:p>
        </p:txBody>
      </p:sp>
    </p:spTree>
    <p:extLst>
      <p:ext uri="{BB962C8B-B14F-4D97-AF65-F5344CB8AC3E}">
        <p14:creationId xmlns:p14="http://schemas.microsoft.com/office/powerpoint/2010/main" val="2299381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A732A-0FB0-F9F3-A69E-9FB2310E1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Flow Chart </a:t>
            </a:r>
            <a:b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(Existing System)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A0C554B-81DE-95CF-600D-9BE6AA5B1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024" y="245406"/>
            <a:ext cx="5287970" cy="636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45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1D7C28-336B-F2E5-59E9-F4328B00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Flow Chart </a:t>
            </a:r>
            <a:b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(Chatbot System)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diagram of process user query&#10;&#10;AI-generated content may be incorrect.">
            <a:extLst>
              <a:ext uri="{FF2B5EF4-FFF2-40B4-BE49-F238E27FC236}">
                <a16:creationId xmlns:a16="http://schemas.microsoft.com/office/drawing/2014/main" id="{81FD8326-1530-8DBA-1E46-67C9F89FB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983" y="143048"/>
            <a:ext cx="5225814" cy="658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3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D9DDEC-2A2E-2D60-9302-B1806761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  <a:b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(User)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erson with text&#10;&#10;AI-generated content may be incorrect.">
            <a:extLst>
              <a:ext uri="{FF2B5EF4-FFF2-40B4-BE49-F238E27FC236}">
                <a16:creationId xmlns:a16="http://schemas.microsoft.com/office/drawing/2014/main" id="{74436E35-ECA9-4A55-B67F-EB94C954C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640" y="268669"/>
            <a:ext cx="4465406" cy="612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60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F6286D-8B06-1328-1E20-87014F23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  <a:b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(Admin)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person with text&#10;&#10;AI-generated content may be incorrect.">
            <a:extLst>
              <a:ext uri="{FF2B5EF4-FFF2-40B4-BE49-F238E27FC236}">
                <a16:creationId xmlns:a16="http://schemas.microsoft.com/office/drawing/2014/main" id="{785A3CAF-CBDE-92DE-809A-CC37A664F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786" y="462012"/>
            <a:ext cx="4909711" cy="596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79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chatbot system&#10;&#10;AI-generated content may be incorrect.">
            <a:extLst>
              <a:ext uri="{FF2B5EF4-FFF2-40B4-BE49-F238E27FC236}">
                <a16:creationId xmlns:a16="http://schemas.microsoft.com/office/drawing/2014/main" id="{607C5FC4-0BFE-DC5F-3959-F21CC9AAD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73" y="304828"/>
            <a:ext cx="4947311" cy="6244777"/>
          </a:xfrm>
          <a:prstGeom prst="rect">
            <a:avLst/>
          </a:prstGeom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528AF0-5D1B-AE0F-142F-DAF741332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Flow Diagram(DFD)</a:t>
            </a: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4448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F6AEFC-9B7D-AE5A-4506-5F7FA157D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Activity Diagram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hatbot&#10;&#10;AI-generated content may be incorrect.">
            <a:extLst>
              <a:ext uri="{FF2B5EF4-FFF2-40B4-BE49-F238E27FC236}">
                <a16:creationId xmlns:a16="http://schemas.microsoft.com/office/drawing/2014/main" id="{E626BAC6-117D-93A6-ACFB-B09DE006B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891" y="273033"/>
            <a:ext cx="4859267" cy="620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46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A78DA2-A6F5-E08A-3241-17EECFE9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Database Schema</a:t>
            </a:r>
            <a:endParaRPr lang="en-US" sz="66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table of information&#10;&#10;AI-generated content may be incorrect.">
            <a:extLst>
              <a:ext uri="{FF2B5EF4-FFF2-40B4-BE49-F238E27FC236}">
                <a16:creationId xmlns:a16="http://schemas.microsoft.com/office/drawing/2014/main" id="{EF32D280-BF6A-B6B2-B041-3852726F8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817" y="4033088"/>
            <a:ext cx="4906870" cy="2820596"/>
          </a:xfrm>
          <a:prstGeom prst="rect">
            <a:avLst/>
          </a:prstGeom>
        </p:spPr>
      </p:pic>
      <p:pic>
        <p:nvPicPr>
          <p:cNvPr id="8" name="Picture 7" descr="A table of chat messages&#10;&#10;AI-generated content may be incorrect.">
            <a:extLst>
              <a:ext uri="{FF2B5EF4-FFF2-40B4-BE49-F238E27FC236}">
                <a16:creationId xmlns:a16="http://schemas.microsoft.com/office/drawing/2014/main" id="{C1CE73D9-EB7D-DA13-FCF6-CFC2E2E77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506" y="1934754"/>
            <a:ext cx="4895496" cy="2081323"/>
          </a:xfrm>
          <a:prstGeom prst="rect">
            <a:avLst/>
          </a:prstGeom>
        </p:spPr>
      </p:pic>
      <p:pic>
        <p:nvPicPr>
          <p:cNvPr id="10" name="Picture 9" descr="A table with text and words&#10;&#10;AI-generated content may be incorrect.">
            <a:extLst>
              <a:ext uri="{FF2B5EF4-FFF2-40B4-BE49-F238E27FC236}">
                <a16:creationId xmlns:a16="http://schemas.microsoft.com/office/drawing/2014/main" id="{58E0581D-EB87-AC6D-F142-23FDF1249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37" y="4403467"/>
            <a:ext cx="3906035" cy="152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4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B93FD7-1C6E-D779-137E-5F8B9BD23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57" y="643467"/>
            <a:ext cx="9605286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39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53192-6259-B1A0-9038-9352BE12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54" y="643467"/>
            <a:ext cx="9860292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98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D2B8F-E819-6272-1CF6-049F93F8F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5" y="643467"/>
            <a:ext cx="994832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12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9A25A-04D3-4A96-DA1A-DB700915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8E81FD-5D72-4F88-9F69-1EC69D81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06" y="643467"/>
            <a:ext cx="10316787" cy="5571065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37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6F5A4-AA40-0A4F-628B-B4FC1FD4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799F72-5902-5F5F-AB1A-48806DAD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78" y="643467"/>
            <a:ext cx="10511443" cy="5571065"/>
          </a:xfrm>
          <a:prstGeom prst="rect">
            <a:avLst/>
          </a:prstGeom>
          <a:ln>
            <a:noFill/>
          </a:ln>
        </p:spPr>
      </p:pic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36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417FD-3E5E-602E-3AC7-FD4CD825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hat history&#10;&#10;AI-generated content may be incorrect.">
            <a:extLst>
              <a:ext uri="{FF2B5EF4-FFF2-40B4-BE49-F238E27FC236}">
                <a16:creationId xmlns:a16="http://schemas.microsoft.com/office/drawing/2014/main" id="{B04B42E0-B40F-F2F0-8B43-4D16C8FC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21" y="643467"/>
            <a:ext cx="9323958" cy="5571065"/>
          </a:xfrm>
          <a:prstGeom prst="rect">
            <a:avLst/>
          </a:prstGeom>
          <a:ln>
            <a:noFill/>
          </a:ln>
        </p:spPr>
      </p:pic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41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3379B-8166-3757-3810-3FABEE0A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C1ABBACF-139A-7C29-71C7-52EFDD25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70" y="643467"/>
            <a:ext cx="10561260" cy="5571065"/>
          </a:xfrm>
          <a:prstGeom prst="rect">
            <a:avLst/>
          </a:prstGeom>
          <a:ln>
            <a:noFill/>
          </a:ln>
        </p:spPr>
      </p:pic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24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3843E-4FC8-AE5E-C138-928F2424C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610" y="506990"/>
            <a:ext cx="9683168" cy="583264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68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FDAD7-4B90-2F62-9BC3-02B8E389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FE5094-3B7C-4944-7FC5-5DE6F53B3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57F151A-2912-4137-2BCF-1792BECBA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B0270-9383-5952-8958-9064111F7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D0E16-44C6-353A-A0C0-29DC5CDFE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E86BEB1-3248-5431-464E-438F0B76A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931F74F-1E7D-5AD4-F3D9-421BC077F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57A192B-6E0B-E734-B600-F401044FA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232900C-851D-FB79-4748-85F86EF53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342" y="858909"/>
            <a:ext cx="9569973" cy="537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40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EDF0C-9F79-7A44-4C21-17E66DB1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E9D38B-C206-46E5-19A6-0038B50E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601ED1-8332-8189-1F13-5B1C3CA31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7AC03E-B5D4-7F41-8A58-67DC2D8C5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9578D0-02FF-468C-3871-EA006F0B9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A6F8014-4B07-6CF7-E951-F4CC5862D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10B87CF-EBC3-56EB-4289-3A6A8D01D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C0CBE7C-AF2A-18C9-B861-95875E68B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mputer screen with a chatbot&#10;&#10;AI-generated content may be incorrect.">
            <a:extLst>
              <a:ext uri="{FF2B5EF4-FFF2-40B4-BE49-F238E27FC236}">
                <a16:creationId xmlns:a16="http://schemas.microsoft.com/office/drawing/2014/main" id="{98AE6B83-2339-7C15-651A-CE826FC24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249" y="688312"/>
            <a:ext cx="10029083" cy="58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86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56623-1A45-1BA3-720E-ED01E4D53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3EEE3F-E390-F605-E37F-FE47BED54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FA317C-B906-A9D4-6ADB-2FB62C8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6B227-68CE-FA91-7CE4-1AD234B3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E0B55B-8B75-1D7E-3D0A-64C51DC8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98A0B17-E75D-6199-6E54-305B38127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B2E3757-0B89-EB9B-4218-EB61A662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7854F99-BEF6-808D-CDB7-5D94592E6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B9E793-A032-BBFC-7506-133BFD261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29" y="745179"/>
            <a:ext cx="9637463" cy="537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80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F6012-C8C3-B42B-E72B-868C2241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125F96-561C-A86C-B703-55701ADAD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94004B6-7558-3614-B0AC-799ADE692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80F6FD-C4E5-7056-E196-CEC7C319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4D3C8E-F5B8-2CF6-97FF-46596B8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0C327E-AB8C-577A-FB89-AA2DF792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5B544ECB-D019-006D-58BF-CAA40F8B9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23B8E4F-8E3C-DC8E-4543-352135CDA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9B84BD-A629-D7F5-7527-1C52E7661A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104" y="736331"/>
            <a:ext cx="9685335" cy="550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3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46553-3B3C-AB75-6593-C205987B9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D7F1A0-A106-AA35-26EA-FB3EF00FC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291EF7F-1DE5-2463-95AC-4E01AE36E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F35BC-091F-9EB1-4E86-D5ABDDE58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3E6418-842F-F0F6-DBD7-EA823AF52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57DBEED-93C3-AC29-E75E-D5BCBAF70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BCFB5E9-4D01-0568-37A3-AF6976C72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861C5E0C-9E9D-EC30-868A-8CF1DB569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hat history&#10;&#10;AI-generated content may be incorrect.">
            <a:extLst>
              <a:ext uri="{FF2B5EF4-FFF2-40B4-BE49-F238E27FC236}">
                <a16:creationId xmlns:a16="http://schemas.microsoft.com/office/drawing/2014/main" id="{4CA06609-EA5A-C46F-C7DB-B8C8843DA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127" y="745178"/>
            <a:ext cx="10410195" cy="550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51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52E52-23A5-F2D8-CDBF-24148981B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57CE23-90B7-D92D-1D30-EFC78074E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5A0F90-48A1-2101-5A11-9A8DD72F0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5D27D7-E2A3-9076-C271-172D4A3BE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877F9D-7FDC-024C-7B26-EFD070E13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7ADFD5D-74A2-24DE-C18F-C1765E12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2CAB8CE-75D8-D875-D345-13DC04622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26EC05E-6BE1-1F4D-E3E5-811D024F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hat history&#10;&#10;AI-generated content may be incorrect.">
            <a:extLst>
              <a:ext uri="{FF2B5EF4-FFF2-40B4-BE49-F238E27FC236}">
                <a16:creationId xmlns:a16="http://schemas.microsoft.com/office/drawing/2014/main" id="{3A8E582A-A816-B5CC-C963-7CA7AED91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878" y="733805"/>
            <a:ext cx="9662633" cy="539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79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D8A52-8DA2-DE8D-A2CC-A89209E0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94" y="1058780"/>
            <a:ext cx="5602705" cy="30921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latin typeface="STXinwei"/>
                <a:ea typeface="STXinwei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780808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542</Words>
  <Application>Microsoft Office PowerPoint</Application>
  <PresentationFormat>Widescreen</PresentationFormat>
  <Paragraphs>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STXinwei</vt:lpstr>
      <vt:lpstr>Aptos</vt:lpstr>
      <vt:lpstr>Aptos Display</vt:lpstr>
      <vt:lpstr>Arial</vt:lpstr>
      <vt:lpstr>Arial,Sans-Serif</vt:lpstr>
      <vt:lpstr>Calibri</vt:lpstr>
      <vt:lpstr>Office Theme</vt:lpstr>
      <vt:lpstr>Gujarat Vidyapith Chatbot</vt:lpstr>
      <vt:lpstr>Agenda</vt:lpstr>
      <vt:lpstr>Introduction</vt:lpstr>
      <vt:lpstr>Key Features of Gujarat Vidyapith Chatbot</vt:lpstr>
      <vt:lpstr>PowerPoint Presentation</vt:lpstr>
      <vt:lpstr>PowerPoint Presentation</vt:lpstr>
      <vt:lpstr>Technology Stack </vt:lpstr>
      <vt:lpstr>System Flow Chart  (Existing System)</vt:lpstr>
      <vt:lpstr>System Flow Chart  (Chatbot System)</vt:lpstr>
      <vt:lpstr>Use Case Diagram (User)</vt:lpstr>
      <vt:lpstr>Use Case Diagram (Admin)</vt:lpstr>
      <vt:lpstr>Data Flow Diagram(DFD)</vt:lpstr>
      <vt:lpstr>Activity Diagram</vt:lpstr>
      <vt:lpstr>Database Schema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 SONANI</dc:creator>
  <cp:lastModifiedBy>AKSHIT SONANI</cp:lastModifiedBy>
  <cp:revision>182</cp:revision>
  <dcterms:created xsi:type="dcterms:W3CDTF">2025-11-22T00:23:36Z</dcterms:created>
  <dcterms:modified xsi:type="dcterms:W3CDTF">2025-11-22T01:50:38Z</dcterms:modified>
</cp:coreProperties>
</file>