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5" r:id="rId7"/>
    <p:sldId id="284" r:id="rId8"/>
    <p:sldId id="262" r:id="rId9"/>
    <p:sldId id="263" r:id="rId10"/>
    <p:sldId id="286" r:id="rId11"/>
    <p:sldId id="264" r:id="rId12"/>
    <p:sldId id="265" r:id="rId13"/>
    <p:sldId id="266" r:id="rId14"/>
    <p:sldId id="267" r:id="rId15"/>
    <p:sldId id="268" r:id="rId16"/>
    <p:sldId id="287" r:id="rId17"/>
    <p:sldId id="290" r:id="rId18"/>
    <p:sldId id="291" r:id="rId19"/>
    <p:sldId id="289" r:id="rId20"/>
    <p:sldId id="288" r:id="rId21"/>
    <p:sldId id="295" r:id="rId22"/>
    <p:sldId id="294" r:id="rId23"/>
    <p:sldId id="293" r:id="rId24"/>
    <p:sldId id="292" r:id="rId25"/>
    <p:sldId id="302" r:id="rId26"/>
    <p:sldId id="301" r:id="rId27"/>
    <p:sldId id="300" r:id="rId28"/>
    <p:sldId id="299" r:id="rId29"/>
    <p:sldId id="298" r:id="rId30"/>
    <p:sldId id="297" r:id="rId31"/>
    <p:sldId id="296" r:id="rId32"/>
    <p:sldId id="303" r:id="rId33"/>
    <p:sldId id="304" r:id="rId34"/>
    <p:sldId id="305" r:id="rId35"/>
    <p:sldId id="307" r:id="rId36"/>
    <p:sldId id="306" r:id="rId37"/>
    <p:sldId id="310" r:id="rId38"/>
    <p:sldId id="311" r:id="rId39"/>
    <p:sldId id="309" r:id="rId40"/>
    <p:sldId id="283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3B73B5-C2DD-E2ED-6879-FDEAE26217EB}" v="186" dt="2025-11-22T01:47:50.8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60"/>
  </p:normalViewPr>
  <p:slideViewPr>
    <p:cSldViewPr snapToGrid="0">
      <p:cViewPr varScale="1">
        <p:scale>
          <a:sx n="89" d="100"/>
          <a:sy n="89" d="100"/>
        </p:scale>
        <p:origin x="30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6E21B-4E8C-ABB5-452E-AB0CEBA74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4C133-F91B-FD3B-47D2-F65C8ACB7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86702-0B0B-4418-EF49-C23CC9F44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F29AE-7200-1152-1B3B-19699815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EFA0A-9B86-4707-82D6-8704E2DC5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3E339-A8C1-C610-0A2A-6C640293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02259-5E69-2597-3C08-88FAD1BF1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CEA8F-9214-7F9F-59AA-C480AAF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2A7BB-E689-4231-53A5-C4E6CA98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B575D-186F-7AA7-FE79-207A7551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9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31A28-8FCC-2FBE-F280-2EB536959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A9EDF-0988-2145-510E-A88DEDDDB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B055D-2ECB-F49F-00A4-F61DE27E8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DF506D-C66B-9D64-3E8E-18EC15113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ABB47-E301-5E31-857F-90D31DE42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49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44810-97AC-3CC9-F95C-FFF7B8D25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E4D4A-0050-26D0-C4B7-E16570144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2DA815-C8F4-5DA1-36C6-1786F686B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88A5F9-CA7A-39B3-2059-ACDE029E7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45AE51-0326-FC1F-B5A5-BBF56076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90C12-E94D-DFCC-4E3D-F46006E24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51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1AA3-01C2-BAF3-3FB0-90515672E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6C65E-DCED-F8C0-D814-F4937E33D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BFA3CE-C605-17D6-5893-57F70773B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EFFDA5-B203-C1E1-97FA-4F6F488ADA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D44127-037E-296A-2B23-DA8A038129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CC61BE-852B-CC1D-C076-E234A538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643545-5697-0EEA-171C-3E2E98180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5B53A2-0867-EB1A-1354-4839B92B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8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14ACA-BA6C-F374-FDEA-C3A4672E6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CE5A0A-1F34-2E9D-6FD1-FFCCA5C98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F70E53-535E-7639-206D-25BA5AB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013035-2AC9-70E9-F13C-372C2F76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89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F88452-B3BF-EF0B-B018-9FC58D244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79F6E0-037E-F352-EE48-999BA049B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4A0D-9318-FC68-E1CF-3170C7CB7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49AE-EDA6-4192-E2EA-B577EE879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C06C1-E3D4-E707-BBF3-068EE84D9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92D326-AAD1-985D-60B9-BFC0F9296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6170E-E847-0273-D545-57253F6B2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27EFC-584E-C209-D3F5-042018C3E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2C17F-3A92-8552-13D6-F8861D24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16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9FB25-8559-C4AE-4B02-9C0344195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51B8AA-5081-1582-9E44-20232E3491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9E7C36-9674-49CE-0CCE-2D7F29DF8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CBE041-A4AD-62FC-2872-F325C934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238DB0-0D7C-B89C-AA2F-891DA015A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83B0D0-FDAC-4FD2-FBA5-3D9877E7D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815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CEF3A-47D5-3922-2B38-605EF0A50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B449E5-170E-6120-2473-34AB21425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F71DA-E305-2C5D-1CF1-4B3716485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1CF0A-B6CE-2AF2-351D-C5759421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1D104-A725-C5C3-0340-BD5DFB33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194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FABC72-8CED-830E-FD8C-135E490682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6B198-F27B-331A-3765-49C0C80F4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EB5CF-3C1F-3A2A-B367-684E5343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636B2E-C4CF-A514-AD36-7D15BF71C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ECAFD-2026-A4DE-AD76-FF67171C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765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D2C2FD-A73C-9BD2-E970-4EC9E3672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83D95-9876-0971-85B4-909B89A29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DFEB0-94BF-3ED5-7B88-D40701D42A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CB42F-3238-9CF1-37F2-813F533929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65F05-38E1-A620-6544-1015067E29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23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://user.id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" TargetMode="External"/><Relationship Id="rId7" Type="http://schemas.openxmlformats.org/officeDocument/2006/relationships/hyperlink" Target="https://github.com/" TargetMode="External"/><Relationship Id="rId2" Type="http://schemas.openxmlformats.org/officeDocument/2006/relationships/hyperlink" Target="https://www.mongodb.com/do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ujaratvidyapith.org/" TargetMode="External"/><Relationship Id="rId5" Type="http://schemas.openxmlformats.org/officeDocument/2006/relationships/hyperlink" Target="https://www.djongomapper.com/" TargetMode="External"/><Relationship Id="rId4" Type="http://schemas.openxmlformats.org/officeDocument/2006/relationships/hyperlink" Target="https://www.nltk.org/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8AB7D4-BD3F-5603-A599-3C553616B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dirty="0">
                <a:latin typeface="Bahnschrift" panose="020B0502040204020203" pitchFamily="34" charset="0"/>
              </a:rPr>
              <a:t>Gujarat Vidyapith Chatbot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690025-0D8C-D875-253F-14A9368C7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4406661" cy="112668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Bahnschrift" panose="020B0502040204020203" pitchFamily="34" charset="0"/>
              </a:rPr>
              <a:t>Presented by:</a:t>
            </a:r>
          </a:p>
          <a:p>
            <a:pPr algn="l"/>
            <a:r>
              <a:rPr lang="en-US" dirty="0">
                <a:latin typeface="Bahnschrift" panose="020B0502040204020203" pitchFamily="34" charset="0"/>
              </a:rPr>
              <a:t>Falguni </a:t>
            </a:r>
            <a:r>
              <a:rPr lang="en-US" dirty="0" err="1">
                <a:latin typeface="Bahnschrift" panose="020B0502040204020203" pitchFamily="34" charset="0"/>
              </a:rPr>
              <a:t>Maththar</a:t>
            </a:r>
            <a:r>
              <a:rPr lang="en-US" dirty="0">
                <a:latin typeface="Bahnschrift" panose="020B0502040204020203" pitchFamily="34" charset="0"/>
              </a:rPr>
              <a:t> – 240160510026</a:t>
            </a:r>
          </a:p>
          <a:p>
            <a:pPr algn="l"/>
            <a:r>
              <a:rPr lang="en-US" dirty="0">
                <a:latin typeface="Bahnschrift" panose="020B0502040204020203" pitchFamily="34" charset="0"/>
              </a:rPr>
              <a:t>Akshit </a:t>
            </a:r>
            <a:r>
              <a:rPr lang="en-US" dirty="0" err="1">
                <a:latin typeface="Bahnschrift" panose="020B0502040204020203" pitchFamily="34" charset="0"/>
              </a:rPr>
              <a:t>Sonani</a:t>
            </a:r>
            <a:r>
              <a:rPr lang="en-US" dirty="0">
                <a:latin typeface="Bahnschrift" panose="020B0502040204020203" pitchFamily="34" charset="0"/>
              </a:rPr>
              <a:t> - 240160510049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6DEBC1D-7780-F5D2-9AD5-9A6A4B5B87B1}"/>
              </a:ext>
            </a:extLst>
          </p:cNvPr>
          <p:cNvSpPr txBox="1">
            <a:spLocks/>
          </p:cNvSpPr>
          <p:nvPr/>
        </p:nvSpPr>
        <p:spPr>
          <a:xfrm>
            <a:off x="6944091" y="4989110"/>
            <a:ext cx="4406661" cy="1126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Bahnschrift" panose="020B0502040204020203" pitchFamily="34" charset="0"/>
              </a:rPr>
              <a:t>Guided by:</a:t>
            </a:r>
          </a:p>
          <a:p>
            <a:pPr algn="l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Dr. </a:t>
            </a:r>
            <a:r>
              <a:rPr lang="en-US" dirty="0" err="1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Neepa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 Shah</a:t>
            </a:r>
          </a:p>
        </p:txBody>
      </p:sp>
    </p:spTree>
    <p:extLst>
      <p:ext uri="{BB962C8B-B14F-4D97-AF65-F5344CB8AC3E}">
        <p14:creationId xmlns:p14="http://schemas.microsoft.com/office/powerpoint/2010/main" val="2703714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A4B090-8191-C201-FE97-2488B1C89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BC3BF-9C6B-783D-BB38-DCA96D610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526481"/>
            <a:ext cx="9941319" cy="312465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2400" dirty="0"/>
              <a:t>Introduction</a:t>
            </a:r>
          </a:p>
          <a:p>
            <a:r>
              <a:rPr lang="en-US" sz="2400" dirty="0"/>
              <a:t>Key Features of Chatbot</a:t>
            </a:r>
          </a:p>
          <a:p>
            <a:r>
              <a:rPr lang="en-US" sz="2400" dirty="0"/>
              <a:t>Technology Stack</a:t>
            </a:r>
          </a:p>
          <a:p>
            <a:r>
              <a:rPr lang="en-US" sz="2400" dirty="0"/>
              <a:t>Project Architecture</a:t>
            </a:r>
          </a:p>
          <a:p>
            <a:r>
              <a:rPr lang="en-US" sz="2400" dirty="0"/>
              <a:t>Database Schema</a:t>
            </a:r>
          </a:p>
          <a:p>
            <a:r>
              <a:rPr lang="en-US" sz="2400" dirty="0"/>
              <a:t>Ui Design</a:t>
            </a:r>
          </a:p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Limitations of the System</a:t>
            </a:r>
          </a:p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Proposed Enhancements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  <a:p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  <a:p>
            <a:endParaRPr lang="en-US" sz="2400" dirty="0"/>
          </a:p>
          <a:p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279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99E58-CD37-BDE6-5CFC-E3ED896D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Introduction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EC9BA-C8B8-58EB-5194-B32ABCE8E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753818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Why Chatbot?</a:t>
            </a:r>
          </a:p>
          <a:p>
            <a:pPr marL="0" indent="0">
              <a:buNone/>
            </a:pPr>
            <a:r>
              <a:rPr lang="en-US" sz="1800" dirty="0"/>
              <a:t>This project aims to create an efficient and user-friendly chatbot system for Gujarat Vidyapith.</a:t>
            </a:r>
          </a:p>
          <a:p>
            <a:pPr marL="0" indent="0">
              <a:buNone/>
            </a:pPr>
            <a:r>
              <a:rPr lang="en-US" sz="1800" dirty="0"/>
              <a:t>The system helps students, staff and visitors get quick answers to common queries related to the university.</a:t>
            </a:r>
          </a:p>
          <a:p>
            <a:pPr marL="0" indent="0">
              <a:buNone/>
            </a:pPr>
            <a:r>
              <a:rPr lang="en-US" sz="1800" dirty="0"/>
              <a:t>It reduces manual workload and improves information accessibility.</a:t>
            </a:r>
          </a:p>
          <a:p>
            <a:pPr marL="0" indent="0">
              <a:buNone/>
            </a:pPr>
            <a:r>
              <a:rPr lang="en-US" sz="1800" dirty="0"/>
              <a:t>The chatbot uses predefined intents, processes user questions and returns accurate responses.</a:t>
            </a:r>
          </a:p>
          <a:p>
            <a:pPr marL="0" indent="0">
              <a:buNone/>
            </a:pPr>
            <a:r>
              <a:rPr lang="en-US" sz="1800" dirty="0"/>
              <a:t>The goal is to provide a simple, fast and reliable digital helpdesk.</a:t>
            </a:r>
          </a:p>
          <a:p>
            <a:r>
              <a:rPr lang="en-US" sz="1800" b="1" dirty="0"/>
              <a:t>What Problem Does It Solve?</a:t>
            </a:r>
          </a:p>
          <a:p>
            <a:pPr marL="0" indent="0">
              <a:buNone/>
            </a:pPr>
            <a:r>
              <a:rPr lang="en-US" sz="1800" dirty="0"/>
              <a:t>Slow information delivery</a:t>
            </a:r>
          </a:p>
          <a:p>
            <a:pPr marL="0" indent="0">
              <a:buNone/>
            </a:pPr>
            <a:r>
              <a:rPr lang="en-US" sz="1800" dirty="0"/>
              <a:t>Repeated manual queries to staff</a:t>
            </a:r>
          </a:p>
          <a:p>
            <a:pPr marL="0" indent="0">
              <a:buNone/>
            </a:pPr>
            <a:r>
              <a:rPr lang="en-US" sz="1800" dirty="0"/>
              <a:t>Difficulty finding accurate and updated details</a:t>
            </a:r>
          </a:p>
          <a:p>
            <a:pPr marL="0" indent="0">
              <a:buNone/>
            </a:pPr>
            <a:r>
              <a:rPr lang="en-US" sz="1800" dirty="0"/>
              <a:t>Confusion during admissions and department-level inquiries</a:t>
            </a:r>
          </a:p>
          <a:p>
            <a:pPr marL="0" indent="0">
              <a:buNone/>
            </a:pPr>
            <a:r>
              <a:rPr lang="en-US" sz="1800" dirty="0"/>
              <a:t>Lack of a single point of information for the university</a:t>
            </a:r>
          </a:p>
        </p:txBody>
      </p:sp>
    </p:spTree>
    <p:extLst>
      <p:ext uri="{BB962C8B-B14F-4D97-AF65-F5344CB8AC3E}">
        <p14:creationId xmlns:p14="http://schemas.microsoft.com/office/powerpoint/2010/main" val="3079461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5481D-4D46-E6D3-D7E7-964881F2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Key Features of Gujarat Vidyapith Chatbot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4D7B9-864C-B14A-FE23-E8B147F24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83109" cy="4601054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Provides instant answers to university-related queries</a:t>
            </a:r>
          </a:p>
          <a:p>
            <a:r>
              <a:rPr lang="en-US" sz="1800" dirty="0"/>
              <a:t>Covers departments, courses, admissions and general campus information</a:t>
            </a:r>
          </a:p>
          <a:p>
            <a:r>
              <a:rPr lang="en-US" sz="1800" dirty="0"/>
              <a:t>Works on intent-based training to maintain accuracy</a:t>
            </a:r>
          </a:p>
          <a:p>
            <a:r>
              <a:rPr lang="en-US" sz="1800" dirty="0"/>
              <a:t>Simple and clean chat interface for students and visitors</a:t>
            </a:r>
          </a:p>
          <a:p>
            <a:r>
              <a:rPr lang="en-US" sz="1800" dirty="0"/>
              <a:t>Centralized admin panel to add, update or remove intents</a:t>
            </a:r>
          </a:p>
          <a:p>
            <a:r>
              <a:rPr lang="en-US" sz="1800" dirty="0"/>
              <a:t>Responds 24/7 without depending on staff availability</a:t>
            </a:r>
          </a:p>
          <a:p>
            <a:r>
              <a:rPr lang="en-US" sz="1800" dirty="0"/>
              <a:t>Reduces repetitive workload for faculty and office staff</a:t>
            </a:r>
          </a:p>
          <a:p>
            <a:r>
              <a:rPr lang="en-US" sz="1800" dirty="0"/>
              <a:t>Supports structured responses for important topics like fees, programs and eligibility</a:t>
            </a:r>
          </a:p>
          <a:p>
            <a:r>
              <a:rPr lang="en-US" sz="1800" dirty="0"/>
              <a:t>Can be expanded with automatic model training in future</a:t>
            </a:r>
          </a:p>
          <a:p>
            <a:r>
              <a:rPr lang="en-US" sz="1800" dirty="0"/>
              <a:t>Lightweight design that works on the web without heavy setup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8C481-C13F-547F-6564-F832673BF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3417"/>
            <a:ext cx="10504227" cy="54317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User Module – Features</a:t>
            </a:r>
          </a:p>
          <a:p>
            <a:r>
              <a:rPr lang="en-US" sz="1800" b="1" dirty="0"/>
              <a:t>User Registration</a:t>
            </a:r>
          </a:p>
          <a:p>
            <a:pPr marL="0" indent="0">
              <a:buNone/>
            </a:pPr>
            <a:r>
              <a:rPr lang="en-US" sz="1800" dirty="0"/>
              <a:t>New users can create an account using basic details like name, email and password.</a:t>
            </a:r>
          </a:p>
          <a:p>
            <a:r>
              <a:rPr lang="en-US" sz="1800" b="1" dirty="0"/>
              <a:t>Secure Login</a:t>
            </a:r>
          </a:p>
          <a:p>
            <a:pPr marL="0" indent="0">
              <a:buNone/>
            </a:pPr>
            <a:r>
              <a:rPr lang="en-US" sz="1800" dirty="0"/>
              <a:t>Only registered users can log in with valid credentials to access the chatbot.</a:t>
            </a:r>
          </a:p>
          <a:p>
            <a:r>
              <a:rPr lang="en-US" sz="1800" b="1" dirty="0"/>
              <a:t>Profile Handling</a:t>
            </a:r>
          </a:p>
          <a:p>
            <a:pPr marL="0" indent="0">
              <a:buNone/>
            </a:pPr>
            <a:r>
              <a:rPr lang="en-US" sz="1800" dirty="0"/>
              <a:t>Users can view and update their profile details (name, contact info, etc.) to keep data accurate.</a:t>
            </a:r>
          </a:p>
          <a:p>
            <a:r>
              <a:rPr lang="en-US" sz="1800" b="1" dirty="0"/>
              <a:t>Chat with Chatbot</a:t>
            </a:r>
          </a:p>
          <a:p>
            <a:pPr marL="0" indent="0">
              <a:buNone/>
            </a:pPr>
            <a:r>
              <a:rPr lang="en-US" sz="1800" dirty="0"/>
              <a:t>Logged-in users can ask queries related to Gujarat Vidyapith and get instant responses.</a:t>
            </a:r>
          </a:p>
          <a:p>
            <a:r>
              <a:rPr lang="en-US" sz="1800" b="1" dirty="0"/>
              <a:t>Chat History</a:t>
            </a:r>
          </a:p>
          <a:p>
            <a:pPr marL="0" indent="0">
              <a:buNone/>
            </a:pPr>
            <a:r>
              <a:rPr lang="en-US" sz="1800" dirty="0"/>
              <a:t>Each user's previous conversations are stored so they can review past answers anytime.</a:t>
            </a:r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52906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8C481-C13F-547F-6564-F832673BF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3417"/>
            <a:ext cx="10504227" cy="54317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/>
              <a:t>Admin Module – Features</a:t>
            </a:r>
            <a:endParaRPr lang="en-US" sz="1800" dirty="0"/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Admin Dashboard</a:t>
            </a:r>
            <a:br>
              <a:rPr lang="en-US" sz="1800" b="1" dirty="0"/>
            </a:br>
            <a:r>
              <a:rPr lang="en-US" sz="1800" dirty="0"/>
              <a:t>Central panel showing overview of total users, active users, total chats and recent activity.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User Status Monitoring</a:t>
            </a:r>
            <a:br>
              <a:rPr lang="en-US" sz="1800" b="1" dirty="0"/>
            </a:br>
            <a:r>
              <a:rPr lang="en-US" sz="1800" dirty="0"/>
              <a:t>Admin can see which users are active, inactive or newly registered.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View User Chat History</a:t>
            </a:r>
            <a:br>
              <a:rPr lang="en-US" sz="1800" b="1" dirty="0"/>
            </a:br>
            <a:r>
              <a:rPr lang="en-US" sz="1800" dirty="0"/>
              <a:t>Admin can access user chat logs to: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Analyze common queries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Improve intents and responses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Monitor misuse or inappropriate queries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System Control</a:t>
            </a:r>
            <a:br>
              <a:rPr lang="en-US" sz="1800" b="1" dirty="0"/>
            </a:br>
            <a:r>
              <a:rPr lang="en-US" sz="1800" dirty="0"/>
              <a:t>Admin can manage intents, update responses and maintain the overall quality of the chatbot.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4409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0842" y="903313"/>
            <a:ext cx="4627267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44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Technology Stack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Frontend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HTML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CSS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JavaScript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Bootstrap (for responsive UI)</a:t>
            </a:r>
          </a:p>
          <a:p>
            <a:r>
              <a:rPr lang="en-US" sz="1600" b="1" dirty="0"/>
              <a:t>Backend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Python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Django Framework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Chatbot core logic using NLTK / trained intent model</a:t>
            </a:r>
          </a:p>
          <a:p>
            <a:r>
              <a:rPr lang="en-US" sz="1600" b="1" dirty="0"/>
              <a:t>Database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SQLite (or the one you used)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Stores users, chat history, intents and admin data</a:t>
            </a:r>
          </a:p>
          <a:p>
            <a:endParaRPr lang="en-US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Machine Learning / NLP</a:t>
            </a:r>
          </a:p>
          <a:p>
            <a:pPr marL="0" indent="0">
              <a:buNone/>
            </a:pPr>
            <a:r>
              <a:rPr lang="en-US" sz="1600" dirty="0"/>
              <a:t>NLTK for text preprocessing</a:t>
            </a:r>
          </a:p>
          <a:p>
            <a:pPr marL="0" indent="0">
              <a:buNone/>
            </a:pPr>
            <a:r>
              <a:rPr lang="en-US" sz="1600" dirty="0"/>
              <a:t>Bag-of-Words model</a:t>
            </a:r>
          </a:p>
          <a:p>
            <a:pPr marL="0" indent="0">
              <a:buNone/>
            </a:pPr>
            <a:r>
              <a:rPr lang="en-US" sz="1600" dirty="0"/>
              <a:t>Custom trained model using </a:t>
            </a:r>
            <a:r>
              <a:rPr lang="en-US" sz="1600" dirty="0" err="1"/>
              <a:t>json</a:t>
            </a:r>
            <a:r>
              <a:rPr lang="en-US" sz="1600" dirty="0"/>
              <a:t> dataset</a:t>
            </a:r>
          </a:p>
          <a:p>
            <a:r>
              <a:rPr lang="en-US" sz="1600" b="1" dirty="0"/>
              <a:t>Tools &amp; Libraries</a:t>
            </a:r>
          </a:p>
          <a:p>
            <a:pPr marL="0" indent="0">
              <a:buNone/>
            </a:pPr>
            <a:r>
              <a:rPr lang="en-US" sz="1600" dirty="0"/>
              <a:t>Django Admin Panel</a:t>
            </a:r>
          </a:p>
          <a:p>
            <a:pPr marL="0" indent="0">
              <a:buNone/>
            </a:pPr>
            <a:r>
              <a:rPr lang="en-US" sz="1600" dirty="0"/>
              <a:t>NumPy</a:t>
            </a:r>
          </a:p>
          <a:p>
            <a:pPr marL="0" indent="0">
              <a:buNone/>
            </a:pPr>
            <a:r>
              <a:rPr lang="en-US" sz="1600" dirty="0"/>
              <a:t>Pickle for model storage</a:t>
            </a:r>
          </a:p>
          <a:p>
            <a:pPr marL="0" indent="0">
              <a:buNone/>
            </a:pPr>
            <a:r>
              <a:rPr lang="en-US" sz="1600" dirty="0"/>
              <a:t>JSON for intents dataset</a:t>
            </a:r>
          </a:p>
          <a:p>
            <a:pPr marL="0" indent="0">
              <a:buNone/>
            </a:pPr>
            <a:r>
              <a:rPr lang="en-US" sz="1600" dirty="0"/>
              <a:t>GitHub for version control</a:t>
            </a:r>
          </a:p>
          <a:p>
            <a:r>
              <a:rPr lang="en-US" sz="1600" b="1" dirty="0"/>
              <a:t>Environment</a:t>
            </a:r>
          </a:p>
          <a:p>
            <a:pPr marL="0" indent="0">
              <a:buNone/>
            </a:pPr>
            <a:r>
              <a:rPr lang="en-US" sz="1600" dirty="0"/>
              <a:t>VS Code</a:t>
            </a:r>
          </a:p>
          <a:p>
            <a:pPr marL="0" indent="0">
              <a:buNone/>
            </a:pPr>
            <a:r>
              <a:rPr lang="en-US" sz="1600" dirty="0"/>
              <a:t>Python Virtual Environment</a:t>
            </a:r>
          </a:p>
          <a:p>
            <a:pPr marL="0" indent="0">
              <a:buNone/>
            </a:pPr>
            <a:r>
              <a:rPr lang="en-US" sz="1600" dirty="0"/>
              <a:t>Browser for deployment testing</a:t>
            </a:r>
          </a:p>
        </p:txBody>
      </p:sp>
    </p:spTree>
    <p:extLst>
      <p:ext uri="{BB962C8B-B14F-4D97-AF65-F5344CB8AC3E}">
        <p14:creationId xmlns:p14="http://schemas.microsoft.com/office/powerpoint/2010/main" val="38923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A732A-0FB0-F9F3-A69E-9FB2310E1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Flow Chart </a:t>
            </a:r>
            <a:b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(Existing System)</a:t>
            </a: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9371FF0-6158-7132-1BD3-F6FE1753C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42394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04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D1D7C28-336B-F2E5-59E9-F4328B006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Flow Chart </a:t>
            </a:r>
            <a:b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(Chatbot System)</a:t>
            </a: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4C8101-69EE-4DFE-ED38-E7F9DD7BE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44729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3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0528AF0-5D1B-AE0F-142F-DAF74133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b="1" dirty="0"/>
              <a:t>E-R Diagram</a:t>
            </a:r>
            <a:r>
              <a:rPr lang="en-US" sz="3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(ERD)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5E3635-CF1D-4956-6D39-979A8BC02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74" y="1407634"/>
            <a:ext cx="6230219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52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FD9DDEC-2A2E-2D60-9302-B1806761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b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(User)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6751ED-F42A-4F53-48FA-01FB7FC69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09" y="99552"/>
            <a:ext cx="5268060" cy="6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160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0F6286D-8B06-1328-1E20-87014F234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b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(Admin)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012867-CB4F-F3FE-B012-6166AC422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959" y="17756"/>
            <a:ext cx="5506218" cy="6677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79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0528AF0-5D1B-AE0F-142F-DAF74133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Flow Diagram(DFD)</a:t>
            </a:r>
            <a:endParaRPr lang="en-US" sz="3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1FA593-D58A-399B-77B9-4BE2CA4AF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19" y="0"/>
            <a:ext cx="63644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48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F6AEFC-9B7D-AE5A-4506-5F7FA157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Activity Diagram</a:t>
            </a:r>
            <a:endParaRPr lang="en-US" sz="60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B74FC7-EFF7-DB1B-8862-FF17178F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552" y="0"/>
            <a:ext cx="5397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546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A78DA2-A6F5-E08A-3241-17EECFE9D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/>
              <a:t>Database Schema</a:t>
            </a:r>
            <a:endParaRPr lang="en-US" sz="6600" dirty="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72DF0D-D729-4B2E-6606-C926BD92A2C6}"/>
              </a:ext>
            </a:extLst>
          </p:cNvPr>
          <p:cNvSpPr txBox="1"/>
          <p:nvPr/>
        </p:nvSpPr>
        <p:spPr>
          <a:xfrm>
            <a:off x="638881" y="2209840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1. User Table Structure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ChatBot_user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F4289A-443A-207B-DCE2-C92ED3F7A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17598"/>
              </p:ext>
            </p:extLst>
          </p:nvPr>
        </p:nvGraphicFramePr>
        <p:xfrm>
          <a:off x="638881" y="2742470"/>
          <a:ext cx="6217476" cy="2799588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38897">
                  <a:extLst>
                    <a:ext uri="{9D8B030D-6E8A-4147-A177-3AD203B41FA5}">
                      <a16:colId xmlns:a16="http://schemas.microsoft.com/office/drawing/2014/main" val="2126556461"/>
                    </a:ext>
                  </a:extLst>
                </a:gridCol>
                <a:gridCol w="968693">
                  <a:extLst>
                    <a:ext uri="{9D8B030D-6E8A-4147-A177-3AD203B41FA5}">
                      <a16:colId xmlns:a16="http://schemas.microsoft.com/office/drawing/2014/main" val="2007041023"/>
                    </a:ext>
                  </a:extLst>
                </a:gridCol>
                <a:gridCol w="3909886">
                  <a:extLst>
                    <a:ext uri="{9D8B030D-6E8A-4147-A177-3AD203B41FA5}">
                      <a16:colId xmlns:a16="http://schemas.microsoft.com/office/drawing/2014/main" val="171112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Column 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87914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_id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internal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638183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Auto-increment user 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84436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 err="1">
                          <a:effectLst/>
                        </a:rPr>
                        <a:t>full_name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User’s full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13468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username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String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Unique login username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3953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email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User email address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5271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password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Plain password (should be hashed in production)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6447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gender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male / female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84432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role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student / parent / faculty / staff / other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32554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profile_image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Profile picture path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00346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joined_date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Registration timestamp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87004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status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active / inactive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6801633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C5EFC16-405A-D6EF-D330-C76A0334250D}"/>
              </a:ext>
            </a:extLst>
          </p:cNvPr>
          <p:cNvSpPr txBox="1"/>
          <p:nvPr/>
        </p:nvSpPr>
        <p:spPr>
          <a:xfrm>
            <a:off x="7092585" y="2209840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2. Admin User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ChatBot_adminuser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749304B-B601-69E5-F802-1691D91F2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092690"/>
              </p:ext>
            </p:extLst>
          </p:nvPr>
        </p:nvGraphicFramePr>
        <p:xfrm>
          <a:off x="7092585" y="2767078"/>
          <a:ext cx="4104268" cy="2193247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07957">
                  <a:extLst>
                    <a:ext uri="{9D8B030D-6E8A-4147-A177-3AD203B41FA5}">
                      <a16:colId xmlns:a16="http://schemas.microsoft.com/office/drawing/2014/main" val="2237292905"/>
                    </a:ext>
                  </a:extLst>
                </a:gridCol>
                <a:gridCol w="675945">
                  <a:extLst>
                    <a:ext uri="{9D8B030D-6E8A-4147-A177-3AD203B41FA5}">
                      <a16:colId xmlns:a16="http://schemas.microsoft.com/office/drawing/2014/main" val="4291175518"/>
                    </a:ext>
                  </a:extLst>
                </a:gridCol>
                <a:gridCol w="125198">
                  <a:extLst>
                    <a:ext uri="{9D8B030D-6E8A-4147-A177-3AD203B41FA5}">
                      <a16:colId xmlns:a16="http://schemas.microsoft.com/office/drawing/2014/main" val="1394125915"/>
                    </a:ext>
                  </a:extLst>
                </a:gridCol>
                <a:gridCol w="800818">
                  <a:extLst>
                    <a:ext uri="{9D8B030D-6E8A-4147-A177-3AD203B41FA5}">
                      <a16:colId xmlns:a16="http://schemas.microsoft.com/office/drawing/2014/main" val="800464849"/>
                    </a:ext>
                  </a:extLst>
                </a:gridCol>
                <a:gridCol w="1069152">
                  <a:extLst>
                    <a:ext uri="{9D8B030D-6E8A-4147-A177-3AD203B41FA5}">
                      <a16:colId xmlns:a16="http://schemas.microsoft.com/office/drawing/2014/main" val="301572712"/>
                    </a:ext>
                  </a:extLst>
                </a:gridCol>
                <a:gridCol w="125198">
                  <a:extLst>
                    <a:ext uri="{9D8B030D-6E8A-4147-A177-3AD203B41FA5}">
                      <a16:colId xmlns:a16="http://schemas.microsoft.com/office/drawing/2014/main" val="1317656077"/>
                    </a:ext>
                  </a:extLst>
                </a:gridCol>
              </a:tblGrid>
              <a:tr h="516710">
                <a:tc gridSpan="2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Column Name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Description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1328688"/>
                  </a:ext>
                </a:extLst>
              </a:tr>
              <a:tr h="5167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 err="1">
                          <a:effectLst/>
                        </a:rPr>
                        <a:t>ObjectId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auto ID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34616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String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 username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5232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email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 email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1916397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password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Admin password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650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04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2A5118-E4F8-00E9-EB80-294A6DA8E137}"/>
              </a:ext>
            </a:extLst>
          </p:cNvPr>
          <p:cNvSpPr txBox="1"/>
          <p:nvPr/>
        </p:nvSpPr>
        <p:spPr>
          <a:xfrm>
            <a:off x="554247" y="549753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3. Pending Questions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ChatBot_pendingquestion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21F1BA-AA8D-4A43-6736-969A7E05A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865442"/>
              </p:ext>
            </p:extLst>
          </p:nvPr>
        </p:nvGraphicFramePr>
        <p:xfrm>
          <a:off x="554247" y="1099122"/>
          <a:ext cx="4718649" cy="3302381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402976">
                  <a:extLst>
                    <a:ext uri="{9D8B030D-6E8A-4147-A177-3AD203B41FA5}">
                      <a16:colId xmlns:a16="http://schemas.microsoft.com/office/drawing/2014/main" val="2869417868"/>
                    </a:ext>
                  </a:extLst>
                </a:gridCol>
                <a:gridCol w="1063157">
                  <a:extLst>
                    <a:ext uri="{9D8B030D-6E8A-4147-A177-3AD203B41FA5}">
                      <a16:colId xmlns:a16="http://schemas.microsoft.com/office/drawing/2014/main" val="2128059946"/>
                    </a:ext>
                  </a:extLst>
                </a:gridCol>
                <a:gridCol w="2252516">
                  <a:extLst>
                    <a:ext uri="{9D8B030D-6E8A-4147-A177-3AD203B41FA5}">
                      <a16:colId xmlns:a16="http://schemas.microsoft.com/office/drawing/2014/main" val="8690515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Field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8794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internal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49818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Unique question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5861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FK → </a:t>
                      </a:r>
                      <a:r>
                        <a:rPr lang="en-IN" sz="1400" u="sng" kern="100">
                          <a:effectLst/>
                          <a:hlinkClick r:id="rId2"/>
                        </a:rPr>
                        <a:t>User.id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65745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 of the person who asked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25211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question_text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User's actual question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0372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model_tag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Chatbot’s predicted 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5660939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confidence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Float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Prediction confidence (0-1)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69049627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created_at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When question was asked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51195690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is_resolved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Boolean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false = pending, true = handled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85817002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admin_note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Admin explanation / fix note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36249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EBED9D3-7A00-93F7-E6AC-56E3572E52A3}"/>
              </a:ext>
            </a:extLst>
          </p:cNvPr>
          <p:cNvSpPr txBox="1"/>
          <p:nvPr/>
        </p:nvSpPr>
        <p:spPr>
          <a:xfrm>
            <a:off x="6648809" y="549753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4. Conversation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ChatBot_conversation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F56E24F-073E-E837-9A0A-E78958A56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81151"/>
              </p:ext>
            </p:extLst>
          </p:nvPr>
        </p:nvGraphicFramePr>
        <p:xfrm>
          <a:off x="6648809" y="1099122"/>
          <a:ext cx="4832858" cy="163309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38897">
                  <a:extLst>
                    <a:ext uri="{9D8B030D-6E8A-4147-A177-3AD203B41FA5}">
                      <a16:colId xmlns:a16="http://schemas.microsoft.com/office/drawing/2014/main" val="3073611071"/>
                    </a:ext>
                  </a:extLst>
                </a:gridCol>
                <a:gridCol w="899922">
                  <a:extLst>
                    <a:ext uri="{9D8B030D-6E8A-4147-A177-3AD203B41FA5}">
                      <a16:colId xmlns:a16="http://schemas.microsoft.com/office/drawing/2014/main" val="322972928"/>
                    </a:ext>
                  </a:extLst>
                </a:gridCol>
                <a:gridCol w="2594039">
                  <a:extLst>
                    <a:ext uri="{9D8B030D-6E8A-4147-A177-3AD203B41FA5}">
                      <a16:colId xmlns:a16="http://schemas.microsoft.com/office/drawing/2014/main" val="24049600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Column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Type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98519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Unique conversation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4052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Conversation row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80912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FK → </a:t>
                      </a:r>
                      <a:r>
                        <a:rPr lang="en-IN" sz="1400" u="sng" kern="100">
                          <a:effectLst/>
                          <a:hlinkClick r:id="rId2"/>
                        </a:rPr>
                        <a:t>User.id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7146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message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Chat message content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601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is_bot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Boolean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true = bot message, false = user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70298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created_at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Message timestamp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2913812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3B50719-6268-E90D-E8BC-B6B68403909E}"/>
              </a:ext>
            </a:extLst>
          </p:cNvPr>
          <p:cNvSpPr txBox="1"/>
          <p:nvPr/>
        </p:nvSpPr>
        <p:spPr>
          <a:xfrm>
            <a:off x="6648809" y="3232568"/>
            <a:ext cx="6370606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5. Chat Dataset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intents.json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966354E-1803-AE50-5DC3-D2AEFB9CF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836427"/>
              </p:ext>
            </p:extLst>
          </p:nvPr>
        </p:nvGraphicFramePr>
        <p:xfrm>
          <a:off x="6648809" y="3785701"/>
          <a:ext cx="3222054" cy="1423924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019429">
                  <a:extLst>
                    <a:ext uri="{9D8B030D-6E8A-4147-A177-3AD203B41FA5}">
                      <a16:colId xmlns:a16="http://schemas.microsoft.com/office/drawing/2014/main" val="3362920449"/>
                    </a:ext>
                  </a:extLst>
                </a:gridCol>
                <a:gridCol w="616585">
                  <a:extLst>
                    <a:ext uri="{9D8B030D-6E8A-4147-A177-3AD203B41FA5}">
                      <a16:colId xmlns:a16="http://schemas.microsoft.com/office/drawing/2014/main" val="2392013981"/>
                    </a:ext>
                  </a:extLst>
                </a:gridCol>
                <a:gridCol w="1586040">
                  <a:extLst>
                    <a:ext uri="{9D8B030D-6E8A-4147-A177-3AD203B41FA5}">
                      <a16:colId xmlns:a16="http://schemas.microsoft.com/office/drawing/2014/main" val="3198758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Field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Type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86662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Intent identifier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48312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patterns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Array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 input examples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04633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responses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Array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Bot output responses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138901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0177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7D63EE-8EF5-936D-39D9-BF8B82FA7243}"/>
              </a:ext>
            </a:extLst>
          </p:cNvPr>
          <p:cNvSpPr txBox="1"/>
          <p:nvPr/>
        </p:nvSpPr>
        <p:spPr>
          <a:xfrm>
            <a:off x="2982437" y="247016"/>
            <a:ext cx="6098874" cy="37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Symbol" panose="05050102010706020507" pitchFamily="18" charset="2"/>
              <a:buBlip>
                <a:blip r:embed="rId3"/>
              </a:buBlip>
              <a:tabLst>
                <a:tab pos="5212080" algn="l"/>
              </a:tabLst>
            </a:pPr>
            <a:r>
              <a:rPr lang="en-US" sz="1800" kern="100" dirty="0">
                <a:effectLst/>
                <a:latin typeface="Arial Rounded MT Bold" panose="020F070403050403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Admin Dashboard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E95FF2-DCE9-ABAD-457E-2B1131EBB773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1. Admin Login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8" name="Picture 7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38E01C1F-77A0-FA2A-1D70-F8BD81D00B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558" y="920090"/>
            <a:ext cx="8333117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23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7EB268-0761-08EA-468A-BC5A3CC3D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692" y="912617"/>
            <a:ext cx="8318357" cy="48498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1E8D36-DB89-5303-43B8-F0A30E31B446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2.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Admin Dashboard &amp; Statistics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26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6F675FE-3DC1-E627-9161-D4444D9490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558" y="912616"/>
            <a:ext cx="8315865" cy="48463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310EFC-821E-95C9-BD06-6699B75AE11D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3. User Management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341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132CC42-DD82-C30D-98F4-36153C044B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8" y="910954"/>
            <a:ext cx="8307235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676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72ACAF-3971-03B2-247C-6AF02F368CC4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4. All Users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01BBDF7C-D0FE-094D-66C3-F602FF06C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15309"/>
            <a:ext cx="8307237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31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456F6717-8921-C2EE-81BC-E636438496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2203"/>
            <a:ext cx="8315863" cy="4886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85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0918E0-9785-804A-FF4E-41C8E71D7F98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5. Pending Questions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68B9FED-D060-F5EC-6E71-A0BF24871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7" y="911464"/>
            <a:ext cx="8315862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44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947A87-7403-3F9C-06A0-599B432F7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86" y="909303"/>
            <a:ext cx="8328489" cy="4879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239677-689C-7437-418E-5944C02573FE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6. Datasets Browser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C83499E-98B8-D641-8F2B-6747E550A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4" y="903986"/>
            <a:ext cx="8315865" cy="4799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232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56FBDD-E2A4-3CAF-5DF4-8CFE6DE40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8789"/>
            <a:ext cx="8315863" cy="487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3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D5E2F6-4046-03C6-CC16-7FCA480C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934" y="894212"/>
            <a:ext cx="8341741" cy="49199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BE17871-58ED-A216-7304-AD7BF4659D4E}"/>
              </a:ext>
            </a:extLst>
          </p:cNvPr>
          <p:cNvSpPr txBox="1"/>
          <p:nvPr/>
        </p:nvSpPr>
        <p:spPr>
          <a:xfrm>
            <a:off x="674301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7.Delete above(</a:t>
            </a:r>
            <a:r>
              <a:rPr lang="en-US" sz="1800" kern="100" dirty="0" err="1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general_info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) intent from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979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CA380-A349-4FB8-523A-2CB8D6F0D97A}"/>
              </a:ext>
            </a:extLst>
          </p:cNvPr>
          <p:cNvSpPr txBox="1"/>
          <p:nvPr/>
        </p:nvSpPr>
        <p:spPr>
          <a:xfrm>
            <a:off x="881335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8. Update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 above(</a:t>
            </a:r>
            <a:r>
              <a:rPr lang="en-US" sz="1800" kern="100" dirty="0" err="1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general_info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) intent from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A51345-4333-2988-CA0C-8393461869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8" y="913055"/>
            <a:ext cx="8333114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248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E9E46E-71C5-5F50-0A88-2257061F6C0B}"/>
              </a:ext>
            </a:extLst>
          </p:cNvPr>
          <p:cNvSpPr txBox="1"/>
          <p:nvPr/>
        </p:nvSpPr>
        <p:spPr>
          <a:xfrm>
            <a:off x="881335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9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Add new intent into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95701F-F0F2-1D96-62EF-8E21F0978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5" y="902838"/>
            <a:ext cx="8315864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6B931A-545B-FD4E-7D3F-E790D916661C}"/>
              </a:ext>
            </a:extLst>
          </p:cNvPr>
          <p:cNvSpPr txBox="1"/>
          <p:nvPr/>
        </p:nvSpPr>
        <p:spPr>
          <a:xfrm>
            <a:off x="2982437" y="59208"/>
            <a:ext cx="6098874" cy="37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Symbol" panose="05050102010706020507" pitchFamily="18" charset="2"/>
              <a:buBlip>
                <a:blip r:embed="rId3"/>
              </a:buBlip>
              <a:tabLst>
                <a:tab pos="5212080" algn="l"/>
              </a:tabLst>
            </a:pPr>
            <a:r>
              <a:rPr lang="en-US" sz="1800" kern="100" dirty="0">
                <a:effectLst/>
                <a:latin typeface="Arial Rounded MT Bold" panose="020F070403050403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User Side Pages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99DC4-B79E-6DEC-0A0E-5D95C2AB8FAB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1. User Registration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0D0744-EAF5-BD7A-589E-16C4A96A5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246" y="907479"/>
            <a:ext cx="8319429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83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2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User Login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68EF6057-EAAA-8A51-50EA-CE48EBFAA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812" y="906791"/>
            <a:ext cx="832449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3.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User </a:t>
            </a: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Profile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6" name="Picture 5" descr="A screenshot of a login page&#10;&#10;AI-generated content may be incorrect.">
            <a:extLst>
              <a:ext uri="{FF2B5EF4-FFF2-40B4-BE49-F238E27FC236}">
                <a16:creationId xmlns:a16="http://schemas.microsoft.com/office/drawing/2014/main" id="{CFF1113B-8F11-98D7-9AE0-701A5F63CF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813" y="902367"/>
            <a:ext cx="8324489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4. Update u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ser profile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DAED1F-0A8B-7409-9CB7-C58C3F5F0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82" y="902838"/>
            <a:ext cx="8345746" cy="487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095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5. Chatbot Conversation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2847BFCC-0CC4-0536-A270-4D515C175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5" y="906791"/>
            <a:ext cx="8315864" cy="4855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450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6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User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ECE69C2C-978D-EC03-C10A-6E4469B90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9" y="903776"/>
            <a:ext cx="8341739" cy="487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243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7.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Clear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5E23152-A742-FF0B-4D0B-7410CCA40D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6790"/>
            <a:ext cx="8307237" cy="487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198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33" y="946396"/>
            <a:ext cx="6087603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IN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Limitations of the System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Not a Real-Time or Fully Accurate Source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chatbot provides high-level guidance based on predefined data. It cannot give real-time updates such as seat availability, changing fee structures, or last-minute admission rules unless the dataset is manually updated.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 Official Decision-Making Ability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system cannot make admission decisions, verify documents, allocate hostels, or process applications. It only provides general information and links to official sources.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indent="0">
              <a:buNone/>
            </a:pPr>
            <a:r>
              <a:rPr lang="en-US" sz="1500" b="1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Limited Handling of Complex or Ambiguous Queries</a:t>
            </a:r>
            <a:br>
              <a:rPr lang="en-US" sz="15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If the user asks a vague, mixed, or highly detailed question, the chatbot may fail to interpret it correctly and revert to fallback messages or clarification prompts.</a:t>
            </a:r>
            <a:endParaRPr lang="en-US" sz="15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 Automatic Content Updates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system does not crawl the university website or prospectus. When university information changes, the dataset and responses must be updated manually.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Language and Input Limitations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chatbot performs best with clean English queries. Highly informal messages, spelling errors, mixed languages (like Gujarati + English), or slang can reduce accuracy unless additional training data is provided.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4915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33" y="946396"/>
            <a:ext cx="6087603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IN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Proposed Enhancements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 Automatic Model Retraining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At present, the chatbot is trained manually using a fixed set of intents and responses. In the future, the system can be upgraded to automatically retrain the model based on real chat logs. This would include: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Multilingual Support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Currently, the chatbot primarily supports English. A major enhancement will be adding support for multiple languages such as Gujarati, Hindi and Hinglish.</a:t>
            </a:r>
            <a:b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</a:b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Future features may include: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Automatic language detection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Separate datasets for additional languages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Translation-based response generation this will make the chatbot more accessible to local users and improve usability for non-English speakers.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Voice Interaction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In future versions, voice input and output can be integrated using speech-to-text and text-to-speech APIs.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This will allow users to communicate with the chatbot verbally, making the system easier to use for visually impaired students or users who prefer voice-based interaction.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317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0842" y="903313"/>
            <a:ext cx="4627267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Bibliography</a:t>
            </a:r>
            <a:endParaRPr lang="en-US" sz="88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MongoDB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MongoDB Inc.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MongoDB Manual and Developer Guide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2"/>
              </a:rPr>
              <a:t>https://www.mongodb.com/docs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 err="1">
                <a:effectLst/>
                <a:latin typeface="Aptos (Body)"/>
                <a:ea typeface="Times New Roman" panose="02020603050405020304" pitchFamily="18" charset="0"/>
              </a:rPr>
              <a:t>PyTorch</a:t>
            </a:r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Meta AI Research. </a:t>
            </a:r>
            <a:r>
              <a:rPr lang="en-US" sz="1800" i="1" dirty="0" err="1">
                <a:effectLst/>
                <a:latin typeface="Aptos (Body)"/>
                <a:ea typeface="Times New Roman" panose="02020603050405020304" pitchFamily="18" charset="0"/>
              </a:rPr>
              <a:t>PyTorch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 Machine Learning Framework Documentation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3"/>
              </a:rPr>
              <a:t>https://pytorch.org/docs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NLTK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Bird, S., Klein, E., &amp; </a:t>
            </a:r>
            <a:r>
              <a:rPr lang="en-US" sz="1800" dirty="0" err="1">
                <a:effectLst/>
                <a:latin typeface="Aptos (Body)"/>
                <a:ea typeface="Times New Roman" panose="02020603050405020304" pitchFamily="18" charset="0"/>
              </a:rPr>
              <a:t>Loper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, E.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Natural Language Processing with Python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4"/>
              </a:rPr>
              <a:t>https://www.nltk.org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/>
            <a:r>
              <a:rPr lang="en-US" sz="1800" b="1" dirty="0" err="1">
                <a:effectLst/>
                <a:latin typeface="Aptos (Body)"/>
                <a:ea typeface="Times New Roman" panose="02020603050405020304" pitchFamily="18" charset="0"/>
              </a:rPr>
              <a:t>Djongo</a:t>
            </a:r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i="1" dirty="0" err="1">
                <a:effectLst/>
                <a:latin typeface="Aptos (Body)"/>
                <a:ea typeface="Times New Roman" panose="02020603050405020304" pitchFamily="18" charset="0"/>
              </a:rPr>
              <a:t>Djongo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: MongoDB Connector for Django ORM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5"/>
              </a:rPr>
              <a:t>https://www.djongomapper.com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University Website (for informational training data)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Gujarat Vidyapith.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Official University Website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: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6"/>
              </a:rPr>
              <a:t>https://gujaratvidyapith.org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GitHub Repositories (Open Source Chatbot Examples)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Various developers.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Chatbot implementations using Python, NLP and Django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 (referenced for understanding patterns and structure).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7"/>
              </a:rPr>
              <a:t>https://github.com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378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EC7823C-FDD6-429C-986C-063FDEBF9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CF7FE1C-8BC5-4B0C-A2BC-93AB72C9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8100" y="-1"/>
            <a:ext cx="10423900" cy="5920155"/>
          </a:xfrm>
          <a:custGeom>
            <a:avLst/>
            <a:gdLst>
              <a:gd name="connsiteX0" fmla="*/ 10423900 w 10423900"/>
              <a:gd name="connsiteY0" fmla="*/ 0 h 5491534"/>
              <a:gd name="connsiteX1" fmla="*/ 3493157 w 10423900"/>
              <a:gd name="connsiteY1" fmla="*/ 0 h 5491534"/>
              <a:gd name="connsiteX2" fmla="*/ 3493018 w 10423900"/>
              <a:gd name="connsiteY2" fmla="*/ 31 h 5491534"/>
              <a:gd name="connsiteX3" fmla="*/ 3245493 w 10423900"/>
              <a:gd name="connsiteY3" fmla="*/ 104839 h 5491534"/>
              <a:gd name="connsiteX4" fmla="*/ 4434802 w 10423900"/>
              <a:gd name="connsiteY4" fmla="*/ 284558 h 5491534"/>
              <a:gd name="connsiteX5" fmla="*/ 4011937 w 10423900"/>
              <a:gd name="connsiteY5" fmla="*/ 395559 h 5491534"/>
              <a:gd name="connsiteX6" fmla="*/ 3573213 w 10423900"/>
              <a:gd name="connsiteY6" fmla="*/ 474847 h 5491534"/>
              <a:gd name="connsiteX7" fmla="*/ 3097489 w 10423900"/>
              <a:gd name="connsiteY7" fmla="*/ 532990 h 5491534"/>
              <a:gd name="connsiteX8" fmla="*/ 2664052 w 10423900"/>
              <a:gd name="connsiteY8" fmla="*/ 649279 h 5491534"/>
              <a:gd name="connsiteX9" fmla="*/ 3795218 w 10423900"/>
              <a:gd name="connsiteY9" fmla="*/ 696852 h 5491534"/>
              <a:gd name="connsiteX10" fmla="*/ 3208492 w 10423900"/>
              <a:gd name="connsiteY10" fmla="*/ 802568 h 5491534"/>
              <a:gd name="connsiteX11" fmla="*/ 2727483 w 10423900"/>
              <a:gd name="connsiteY11" fmla="*/ 939999 h 5491534"/>
              <a:gd name="connsiteX12" fmla="*/ 2389190 w 10423900"/>
              <a:gd name="connsiteY12" fmla="*/ 1003429 h 5491534"/>
              <a:gd name="connsiteX13" fmla="*/ 2029754 w 10423900"/>
              <a:gd name="connsiteY13" fmla="*/ 1019287 h 5491534"/>
              <a:gd name="connsiteX14" fmla="*/ 1945181 w 10423900"/>
              <a:gd name="connsiteY14" fmla="*/ 1119716 h 5491534"/>
              <a:gd name="connsiteX15" fmla="*/ 2056184 w 10423900"/>
              <a:gd name="connsiteY15" fmla="*/ 1225434 h 5491534"/>
              <a:gd name="connsiteX16" fmla="*/ 2225329 w 10423900"/>
              <a:gd name="connsiteY16" fmla="*/ 1236004 h 5491534"/>
              <a:gd name="connsiteX17" fmla="*/ 3234920 w 10423900"/>
              <a:gd name="connsiteY17" fmla="*/ 1262435 h 5491534"/>
              <a:gd name="connsiteX18" fmla="*/ 0 w 10423900"/>
              <a:gd name="connsiteY18" fmla="*/ 1495009 h 5491534"/>
              <a:gd name="connsiteX19" fmla="*/ 438724 w 10423900"/>
              <a:gd name="connsiteY19" fmla="*/ 1637728 h 5491534"/>
              <a:gd name="connsiteX20" fmla="*/ 586726 w 10423900"/>
              <a:gd name="connsiteY20" fmla="*/ 2028877 h 5491534"/>
              <a:gd name="connsiteX21" fmla="*/ 1125878 w 10423900"/>
              <a:gd name="connsiteY21" fmla="*/ 2250882 h 5491534"/>
              <a:gd name="connsiteX22" fmla="*/ 1474744 w 10423900"/>
              <a:gd name="connsiteY22" fmla="*/ 2330169 h 5491534"/>
              <a:gd name="connsiteX23" fmla="*/ 2272901 w 10423900"/>
              <a:gd name="connsiteY23" fmla="*/ 2446458 h 5491534"/>
              <a:gd name="connsiteX24" fmla="*/ 2389190 w 10423900"/>
              <a:gd name="connsiteY24" fmla="*/ 2636747 h 5491534"/>
              <a:gd name="connsiteX25" fmla="*/ 2489621 w 10423900"/>
              <a:gd name="connsiteY25" fmla="*/ 2848179 h 5491534"/>
              <a:gd name="connsiteX26" fmla="*/ 2701053 w 10423900"/>
              <a:gd name="connsiteY26" fmla="*/ 2985611 h 5491534"/>
              <a:gd name="connsiteX27" fmla="*/ 1057165 w 10423900"/>
              <a:gd name="connsiteY27" fmla="*/ 2964468 h 5491534"/>
              <a:gd name="connsiteX28" fmla="*/ 2912485 w 10423900"/>
              <a:gd name="connsiteY28" fmla="*/ 3408477 h 5491534"/>
              <a:gd name="connsiteX29" fmla="*/ 2748626 w 10423900"/>
              <a:gd name="connsiteY29" fmla="*/ 3582909 h 5491534"/>
              <a:gd name="connsiteX30" fmla="*/ 3763503 w 10423900"/>
              <a:gd name="connsiteY30" fmla="*/ 3820771 h 5491534"/>
              <a:gd name="connsiteX31" fmla="*/ 3219063 w 10423900"/>
              <a:gd name="connsiteY31" fmla="*/ 3847199 h 5491534"/>
              <a:gd name="connsiteX32" fmla="*/ 6385269 w 10423900"/>
              <a:gd name="connsiteY32" fmla="*/ 4840933 h 5491534"/>
              <a:gd name="connsiteX33" fmla="*/ 10285854 w 10423900"/>
              <a:gd name="connsiteY33" fmla="*/ 5471118 h 5491534"/>
              <a:gd name="connsiteX34" fmla="*/ 10423900 w 10423900"/>
              <a:gd name="connsiteY34" fmla="*/ 5491534 h 549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3900" h="5491534">
                <a:moveTo>
                  <a:pt x="10423900" y="0"/>
                </a:moveTo>
                <a:lnTo>
                  <a:pt x="3493157" y="0"/>
                </a:lnTo>
                <a:lnTo>
                  <a:pt x="3493018" y="31"/>
                </a:lnTo>
                <a:cubicBezTo>
                  <a:pt x="3414969" y="12668"/>
                  <a:pt x="3328744" y="21588"/>
                  <a:pt x="3245493" y="104839"/>
                </a:cubicBezTo>
                <a:cubicBezTo>
                  <a:pt x="3668357" y="162984"/>
                  <a:pt x="4075366" y="51981"/>
                  <a:pt x="4434802" y="284558"/>
                </a:cubicBezTo>
                <a:cubicBezTo>
                  <a:pt x="4302656" y="400846"/>
                  <a:pt x="4154654" y="374416"/>
                  <a:pt x="4011937" y="395559"/>
                </a:cubicBezTo>
                <a:cubicBezTo>
                  <a:pt x="3863934" y="416704"/>
                  <a:pt x="3721217" y="453704"/>
                  <a:pt x="3573213" y="474847"/>
                </a:cubicBezTo>
                <a:cubicBezTo>
                  <a:pt x="3414639" y="501275"/>
                  <a:pt x="3256063" y="506562"/>
                  <a:pt x="3097489" y="532990"/>
                </a:cubicBezTo>
                <a:cubicBezTo>
                  <a:pt x="2965345" y="554135"/>
                  <a:pt x="2822627" y="517133"/>
                  <a:pt x="2664052" y="649279"/>
                </a:cubicBezTo>
                <a:cubicBezTo>
                  <a:pt x="3055203" y="744424"/>
                  <a:pt x="3409352" y="601706"/>
                  <a:pt x="3795218" y="696852"/>
                </a:cubicBezTo>
                <a:cubicBezTo>
                  <a:pt x="3567928" y="781425"/>
                  <a:pt x="3382924" y="754995"/>
                  <a:pt x="3208492" y="802568"/>
                </a:cubicBezTo>
                <a:cubicBezTo>
                  <a:pt x="3049916" y="850140"/>
                  <a:pt x="2859627" y="797282"/>
                  <a:pt x="2727483" y="939999"/>
                </a:cubicBezTo>
                <a:cubicBezTo>
                  <a:pt x="2627052" y="1051000"/>
                  <a:pt x="2521336" y="1066858"/>
                  <a:pt x="2389190" y="1003429"/>
                </a:cubicBezTo>
                <a:cubicBezTo>
                  <a:pt x="2272901" y="945284"/>
                  <a:pt x="2146043" y="961142"/>
                  <a:pt x="2029754" y="1019287"/>
                </a:cubicBezTo>
                <a:cubicBezTo>
                  <a:pt x="1987468" y="1040430"/>
                  <a:pt x="1945181" y="1066858"/>
                  <a:pt x="1945181" y="1119716"/>
                </a:cubicBezTo>
                <a:cubicBezTo>
                  <a:pt x="1945181" y="1193719"/>
                  <a:pt x="1998039" y="1214862"/>
                  <a:pt x="2056184" y="1225434"/>
                </a:cubicBezTo>
                <a:cubicBezTo>
                  <a:pt x="2109042" y="1236004"/>
                  <a:pt x="2172471" y="1246577"/>
                  <a:pt x="2225329" y="1236004"/>
                </a:cubicBezTo>
                <a:cubicBezTo>
                  <a:pt x="2563622" y="1177861"/>
                  <a:pt x="2896629" y="1273005"/>
                  <a:pt x="3234920" y="1262435"/>
                </a:cubicBezTo>
                <a:cubicBezTo>
                  <a:pt x="2172471" y="1489724"/>
                  <a:pt x="1099450" y="1415723"/>
                  <a:pt x="0" y="1495009"/>
                </a:cubicBezTo>
                <a:cubicBezTo>
                  <a:pt x="142717" y="1653583"/>
                  <a:pt x="327721" y="1521439"/>
                  <a:pt x="438724" y="1637728"/>
                </a:cubicBezTo>
                <a:cubicBezTo>
                  <a:pt x="333006" y="1880875"/>
                  <a:pt x="375293" y="2013020"/>
                  <a:pt x="586726" y="2028877"/>
                </a:cubicBezTo>
                <a:cubicBezTo>
                  <a:pt x="792873" y="2044734"/>
                  <a:pt x="1014877" y="1960161"/>
                  <a:pt x="1125878" y="2250882"/>
                </a:cubicBezTo>
                <a:cubicBezTo>
                  <a:pt x="1157593" y="2340740"/>
                  <a:pt x="1353170" y="2314312"/>
                  <a:pt x="1474744" y="2330169"/>
                </a:cubicBezTo>
                <a:cubicBezTo>
                  <a:pt x="1739034" y="2367170"/>
                  <a:pt x="2019183" y="2330169"/>
                  <a:pt x="2272901" y="2446458"/>
                </a:cubicBezTo>
                <a:cubicBezTo>
                  <a:pt x="2373332" y="2488744"/>
                  <a:pt x="2442048" y="2520459"/>
                  <a:pt x="2389190" y="2636747"/>
                </a:cubicBezTo>
                <a:cubicBezTo>
                  <a:pt x="2336332" y="2758321"/>
                  <a:pt x="2405048" y="2800607"/>
                  <a:pt x="2489621" y="2848179"/>
                </a:cubicBezTo>
                <a:cubicBezTo>
                  <a:pt x="2553051" y="2885180"/>
                  <a:pt x="2648195" y="2874609"/>
                  <a:pt x="2701053" y="2985611"/>
                </a:cubicBezTo>
                <a:cubicBezTo>
                  <a:pt x="2146043" y="2969753"/>
                  <a:pt x="1606888" y="2879895"/>
                  <a:pt x="1057165" y="2964468"/>
                </a:cubicBezTo>
                <a:cubicBezTo>
                  <a:pt x="1659748" y="3175900"/>
                  <a:pt x="2320474" y="3165328"/>
                  <a:pt x="2912485" y="3408477"/>
                </a:cubicBezTo>
                <a:cubicBezTo>
                  <a:pt x="2891342" y="3493050"/>
                  <a:pt x="2753911" y="3456048"/>
                  <a:pt x="2748626" y="3582909"/>
                </a:cubicBezTo>
                <a:cubicBezTo>
                  <a:pt x="3060489" y="3715055"/>
                  <a:pt x="3435782" y="3625195"/>
                  <a:pt x="3763503" y="3820771"/>
                </a:cubicBezTo>
                <a:cubicBezTo>
                  <a:pt x="3573213" y="3910629"/>
                  <a:pt x="3398782" y="3762626"/>
                  <a:pt x="3219063" y="3847199"/>
                </a:cubicBezTo>
                <a:cubicBezTo>
                  <a:pt x="3277208" y="3974060"/>
                  <a:pt x="5909545" y="4756360"/>
                  <a:pt x="6385269" y="4840933"/>
                </a:cubicBezTo>
                <a:cubicBezTo>
                  <a:pt x="7171204" y="4982659"/>
                  <a:pt x="9157515" y="5302348"/>
                  <a:pt x="10285854" y="5471118"/>
                </a:cubicBezTo>
                <a:lnTo>
                  <a:pt x="10423900" y="5491534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0651F5E-0457-4065-ACB2-8B81590C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050098" flipH="1" flipV="1">
            <a:off x="-160709" y="3977842"/>
            <a:ext cx="7507400" cy="3166385"/>
          </a:xfrm>
          <a:custGeom>
            <a:avLst/>
            <a:gdLst>
              <a:gd name="connsiteX0" fmla="*/ 5497485 w 7507400"/>
              <a:gd name="connsiteY0" fmla="*/ 2912009 h 3166385"/>
              <a:gd name="connsiteX1" fmla="*/ 7034681 w 7507400"/>
              <a:gd name="connsiteY1" fmla="*/ 3151263 h 3166385"/>
              <a:gd name="connsiteX2" fmla="*/ 7137723 w 7507400"/>
              <a:gd name="connsiteY2" fmla="*/ 3166385 h 3166385"/>
              <a:gd name="connsiteX3" fmla="*/ 7507400 w 7507400"/>
              <a:gd name="connsiteY3" fmla="*/ 875071 h 3166385"/>
              <a:gd name="connsiteX4" fmla="*/ 2083578 w 7507400"/>
              <a:gd name="connsiteY4" fmla="*/ 0 h 3166385"/>
              <a:gd name="connsiteX5" fmla="*/ 2023081 w 7507400"/>
              <a:gd name="connsiteY5" fmla="*/ 5468 h 3166385"/>
              <a:gd name="connsiteX6" fmla="*/ 1865374 w 7507400"/>
              <a:gd name="connsiteY6" fmla="*/ 76313 h 3166385"/>
              <a:gd name="connsiteX7" fmla="*/ 1634010 w 7507400"/>
              <a:gd name="connsiteY7" fmla="*/ 119359 h 3166385"/>
              <a:gd name="connsiteX8" fmla="*/ 1388186 w 7507400"/>
              <a:gd name="connsiteY8" fmla="*/ 130121 h 3166385"/>
              <a:gd name="connsiteX9" fmla="*/ 1330344 w 7507400"/>
              <a:gd name="connsiteY9" fmla="*/ 198275 h 3166385"/>
              <a:gd name="connsiteX10" fmla="*/ 1406262 w 7507400"/>
              <a:gd name="connsiteY10" fmla="*/ 270018 h 3166385"/>
              <a:gd name="connsiteX11" fmla="*/ 1521942 w 7507400"/>
              <a:gd name="connsiteY11" fmla="*/ 277191 h 3166385"/>
              <a:gd name="connsiteX12" fmla="*/ 2212420 w 7507400"/>
              <a:gd name="connsiteY12" fmla="*/ 295128 h 3166385"/>
              <a:gd name="connsiteX13" fmla="*/ 0 w 7507400"/>
              <a:gd name="connsiteY13" fmla="*/ 452960 h 3166385"/>
              <a:gd name="connsiteX14" fmla="*/ 300051 w 7507400"/>
              <a:gd name="connsiteY14" fmla="*/ 549813 h 3166385"/>
              <a:gd name="connsiteX15" fmla="*/ 401272 w 7507400"/>
              <a:gd name="connsiteY15" fmla="*/ 815258 h 3166385"/>
              <a:gd name="connsiteX16" fmla="*/ 770008 w 7507400"/>
              <a:gd name="connsiteY16" fmla="*/ 965917 h 3166385"/>
              <a:gd name="connsiteX17" fmla="*/ 1008605 w 7507400"/>
              <a:gd name="connsiteY17" fmla="*/ 1019724 h 3166385"/>
              <a:gd name="connsiteX18" fmla="*/ 1554478 w 7507400"/>
              <a:gd name="connsiteY18" fmla="*/ 1098641 h 3166385"/>
              <a:gd name="connsiteX19" fmla="*/ 1634010 w 7507400"/>
              <a:gd name="connsiteY19" fmla="*/ 1227777 h 3166385"/>
              <a:gd name="connsiteX20" fmla="*/ 1702696 w 7507400"/>
              <a:gd name="connsiteY20" fmla="*/ 1371261 h 3166385"/>
              <a:gd name="connsiteX21" fmla="*/ 1847299 w 7507400"/>
              <a:gd name="connsiteY21" fmla="*/ 1464526 h 3166385"/>
              <a:gd name="connsiteX22" fmla="*/ 723015 w 7507400"/>
              <a:gd name="connsiteY22" fmla="*/ 1450177 h 3166385"/>
              <a:gd name="connsiteX23" fmla="*/ 1991901 w 7507400"/>
              <a:gd name="connsiteY23" fmla="*/ 1751495 h 3166385"/>
              <a:gd name="connsiteX24" fmla="*/ 1879835 w 7507400"/>
              <a:gd name="connsiteY24" fmla="*/ 1869870 h 3166385"/>
              <a:gd name="connsiteX25" fmla="*/ 2573927 w 7507400"/>
              <a:gd name="connsiteY25" fmla="*/ 2031290 h 3166385"/>
              <a:gd name="connsiteX26" fmla="*/ 2201575 w 7507400"/>
              <a:gd name="connsiteY26" fmla="*/ 2049225 h 3166385"/>
              <a:gd name="connsiteX27" fmla="*/ 4367000 w 7507400"/>
              <a:gd name="connsiteY27" fmla="*/ 2723602 h 3166385"/>
              <a:gd name="connsiteX28" fmla="*/ 5497485 w 7507400"/>
              <a:gd name="connsiteY28" fmla="*/ 2912009 h 316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507400" h="3166385">
                <a:moveTo>
                  <a:pt x="5497485" y="2912009"/>
                </a:moveTo>
                <a:cubicBezTo>
                  <a:pt x="6033497" y="2998226"/>
                  <a:pt x="6619155" y="3089592"/>
                  <a:pt x="7034681" y="3151263"/>
                </a:cubicBezTo>
                <a:lnTo>
                  <a:pt x="7137723" y="3166385"/>
                </a:lnTo>
                <a:lnTo>
                  <a:pt x="7507400" y="875071"/>
                </a:lnTo>
                <a:lnTo>
                  <a:pt x="2083578" y="0"/>
                </a:lnTo>
                <a:lnTo>
                  <a:pt x="2023081" y="5468"/>
                </a:lnTo>
                <a:cubicBezTo>
                  <a:pt x="1965692" y="12642"/>
                  <a:pt x="1910562" y="27887"/>
                  <a:pt x="1865374" y="76313"/>
                </a:cubicBezTo>
                <a:cubicBezTo>
                  <a:pt x="1796688" y="151642"/>
                  <a:pt x="1724387" y="162404"/>
                  <a:pt x="1634010" y="119359"/>
                </a:cubicBezTo>
                <a:cubicBezTo>
                  <a:pt x="1554478" y="79900"/>
                  <a:pt x="1467718" y="90662"/>
                  <a:pt x="1388186" y="130121"/>
                </a:cubicBezTo>
                <a:cubicBezTo>
                  <a:pt x="1359266" y="144469"/>
                  <a:pt x="1330344" y="162404"/>
                  <a:pt x="1330344" y="198275"/>
                </a:cubicBezTo>
                <a:cubicBezTo>
                  <a:pt x="1330344" y="248495"/>
                  <a:pt x="1366496" y="262843"/>
                  <a:pt x="1406262" y="270018"/>
                </a:cubicBezTo>
                <a:cubicBezTo>
                  <a:pt x="1442412" y="277191"/>
                  <a:pt x="1485792" y="284366"/>
                  <a:pt x="1521942" y="277191"/>
                </a:cubicBezTo>
                <a:cubicBezTo>
                  <a:pt x="1753307" y="237734"/>
                  <a:pt x="1981057" y="302301"/>
                  <a:pt x="2212420" y="295128"/>
                </a:cubicBezTo>
                <a:cubicBezTo>
                  <a:pt x="1485792" y="449373"/>
                  <a:pt x="751934" y="399154"/>
                  <a:pt x="0" y="452960"/>
                </a:cubicBezTo>
                <a:cubicBezTo>
                  <a:pt x="97608" y="560573"/>
                  <a:pt x="224135" y="470896"/>
                  <a:pt x="300051" y="549813"/>
                </a:cubicBezTo>
                <a:cubicBezTo>
                  <a:pt x="227750" y="714820"/>
                  <a:pt x="256671" y="804497"/>
                  <a:pt x="401272" y="815258"/>
                </a:cubicBezTo>
                <a:cubicBezTo>
                  <a:pt x="542261" y="826019"/>
                  <a:pt x="694093" y="768625"/>
                  <a:pt x="770008" y="965917"/>
                </a:cubicBezTo>
                <a:cubicBezTo>
                  <a:pt x="791699" y="1026898"/>
                  <a:pt x="925458" y="1008963"/>
                  <a:pt x="1008605" y="1019724"/>
                </a:cubicBezTo>
                <a:cubicBezTo>
                  <a:pt x="1189357" y="1044833"/>
                  <a:pt x="1380957" y="1019724"/>
                  <a:pt x="1554478" y="1098641"/>
                </a:cubicBezTo>
                <a:cubicBezTo>
                  <a:pt x="1623165" y="1127337"/>
                  <a:pt x="1670160" y="1148860"/>
                  <a:pt x="1634010" y="1227777"/>
                </a:cubicBezTo>
                <a:cubicBezTo>
                  <a:pt x="1597859" y="1310280"/>
                  <a:pt x="1644855" y="1338976"/>
                  <a:pt x="1702696" y="1371261"/>
                </a:cubicBezTo>
                <a:cubicBezTo>
                  <a:pt x="1746077" y="1396370"/>
                  <a:pt x="1811148" y="1389197"/>
                  <a:pt x="1847299" y="1464526"/>
                </a:cubicBezTo>
                <a:cubicBezTo>
                  <a:pt x="1467717" y="1453764"/>
                  <a:pt x="1098981" y="1392783"/>
                  <a:pt x="723015" y="1450177"/>
                </a:cubicBezTo>
                <a:cubicBezTo>
                  <a:pt x="1135131" y="1593662"/>
                  <a:pt x="1587014" y="1586487"/>
                  <a:pt x="1991901" y="1751495"/>
                </a:cubicBezTo>
                <a:cubicBezTo>
                  <a:pt x="1977441" y="1808889"/>
                  <a:pt x="1883449" y="1783778"/>
                  <a:pt x="1879835" y="1869870"/>
                </a:cubicBezTo>
                <a:cubicBezTo>
                  <a:pt x="2093123" y="1959548"/>
                  <a:pt x="2349794" y="1898566"/>
                  <a:pt x="2573927" y="2031290"/>
                </a:cubicBezTo>
                <a:cubicBezTo>
                  <a:pt x="2443785" y="2092271"/>
                  <a:pt x="2324488" y="1991831"/>
                  <a:pt x="2201575" y="2049225"/>
                </a:cubicBezTo>
                <a:cubicBezTo>
                  <a:pt x="2241342" y="2135316"/>
                  <a:pt x="4041644" y="2666208"/>
                  <a:pt x="4367000" y="2723602"/>
                </a:cubicBezTo>
                <a:cubicBezTo>
                  <a:pt x="4615085" y="2767993"/>
                  <a:pt x="5038048" y="2838109"/>
                  <a:pt x="5497485" y="2912009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D8A52-8DA2-DE8D-A2CC-A89209E0B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1094" y="1058780"/>
            <a:ext cx="5602705" cy="309211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latin typeface="STXinwei"/>
                <a:ea typeface="STXinwei"/>
              </a:rPr>
              <a:t>Thank You…</a:t>
            </a:r>
          </a:p>
        </p:txBody>
      </p:sp>
    </p:spTree>
    <p:extLst>
      <p:ext uri="{BB962C8B-B14F-4D97-AF65-F5344CB8AC3E}">
        <p14:creationId xmlns:p14="http://schemas.microsoft.com/office/powerpoint/2010/main" val="178080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1451</Words>
  <Application>Microsoft Office PowerPoint</Application>
  <PresentationFormat>Widescreen</PresentationFormat>
  <Paragraphs>260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3" baseType="lpstr">
      <vt:lpstr>STXinwei</vt:lpstr>
      <vt:lpstr>Abadi</vt:lpstr>
      <vt:lpstr>Aptos</vt:lpstr>
      <vt:lpstr>Aptos (Body)</vt:lpstr>
      <vt:lpstr>Aptos Display</vt:lpstr>
      <vt:lpstr>Aptos Display (Headings)</vt:lpstr>
      <vt:lpstr>Arial</vt:lpstr>
      <vt:lpstr>Arial Rounded MT Bold</vt:lpstr>
      <vt:lpstr>Arial,Sans-Serif</vt:lpstr>
      <vt:lpstr>Bahnschrift</vt:lpstr>
      <vt:lpstr>Georgia</vt:lpstr>
      <vt:lpstr>Symbol</vt:lpstr>
      <vt:lpstr>Office Theme</vt:lpstr>
      <vt:lpstr>Gujarat Vidyapith Chatbot</vt:lpstr>
      <vt:lpstr>Agenda</vt:lpstr>
      <vt:lpstr>Introduction</vt:lpstr>
      <vt:lpstr>Key Features of Gujarat Vidyapith Chatbot</vt:lpstr>
      <vt:lpstr>PowerPoint Presentation</vt:lpstr>
      <vt:lpstr>PowerPoint Presentation</vt:lpstr>
      <vt:lpstr>PowerPoint Presentation</vt:lpstr>
      <vt:lpstr>System Flow Chart  (Existing System)</vt:lpstr>
      <vt:lpstr>System Flow Chart  (Chatbot System)</vt:lpstr>
      <vt:lpstr>E-R Diagram(ERD)</vt:lpstr>
      <vt:lpstr>Use Case Diagram (User)</vt:lpstr>
      <vt:lpstr>Use Case Diagram (Admin)</vt:lpstr>
      <vt:lpstr>Data Flow Diagram(DFD)</vt:lpstr>
      <vt:lpstr>Activity Diagram</vt:lpstr>
      <vt:lpstr>Database Schema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AKSHIT SONANI</dc:creator>
  <cp:lastModifiedBy>AKSHIT SONANI</cp:lastModifiedBy>
  <cp:revision>281</cp:revision>
  <dcterms:created xsi:type="dcterms:W3CDTF">2025-11-22T00:23:36Z</dcterms:created>
  <dcterms:modified xsi:type="dcterms:W3CDTF">2025-11-26T04:21:41Z</dcterms:modified>
</cp:coreProperties>
</file>